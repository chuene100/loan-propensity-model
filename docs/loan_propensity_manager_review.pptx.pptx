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Calibri (MS) Bold" charset="1" panose="020F0702030404030204"/>
      <p:regular r:id="rId34"/>
    </p:embeddedFont>
    <p:embeddedFont>
      <p:font typeface="Cambria Bold" charset="1" panose="02040803050406030204"/>
      <p:regular r:id="rId35"/>
    </p:embeddedFont>
    <p:embeddedFont>
      <p:font typeface="Calibri (MS)" charset="1" panose="020F0502020204030204"/>
      <p:regular r:id="rId36"/>
    </p:embeddedFont>
    <p:embeddedFont>
      <p:font typeface="Canva Sans" charset="1" panose="020B0503030501040103"/>
      <p:regular r:id="rId37"/>
    </p:embeddedFont>
    <p:embeddedFont>
      <p:font typeface="Calibri (MS) Italics" charset="1" panose="020F05020202040A0204"/>
      <p:regular r:id="rId41"/>
    </p:embeddedFont>
    <p:embeddedFont>
      <p:font typeface="Cambria" charset="1" panose="02040503050406030204"/>
      <p:regular r:id="rId42"/>
    </p:embeddedFont>
    <p:embeddedFont>
      <p:font typeface="Canva Sans Bold" charset="1" panose="020B0803030501040103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4.xml" Type="http://schemas.openxmlformats.org/officeDocument/2006/relationships/notes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notesSlides/notesSlide5.xml" Type="http://schemas.openxmlformats.org/officeDocument/2006/relationships/notesSlide"/><Relationship Id="rId44" Target="notesSlides/notesSlide6.xml" Type="http://schemas.openxmlformats.org/officeDocument/2006/relationships/notesSlide"/><Relationship Id="rId45" Target="fonts/font45.fntdata" Type="http://schemas.openxmlformats.org/officeDocument/2006/relationships/font"/><Relationship Id="rId46" Target="notesSlides/notesSlide7.xml" Type="http://schemas.openxmlformats.org/officeDocument/2006/relationships/notesSlide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49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1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24.png" Type="http://schemas.openxmlformats.org/officeDocument/2006/relationships/image"/><Relationship Id="rId5" Target="../media/image12.png" Type="http://schemas.openxmlformats.org/officeDocument/2006/relationships/image"/><Relationship Id="rId6" Target="../media/image1.png" Type="http://schemas.openxmlformats.org/officeDocument/2006/relationships/image"/><Relationship Id="rId7" Target="../media/image7.png" Type="http://schemas.openxmlformats.org/officeDocument/2006/relationships/image"/><Relationship Id="rId8" Target="../media/image13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6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35.png" Type="http://schemas.openxmlformats.org/officeDocument/2006/relationships/image"/><Relationship Id="rId5" Target="../media/image1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36.png" Type="http://schemas.openxmlformats.org/officeDocument/2006/relationships/image"/><Relationship Id="rId6" Target="../media/image6.png" Type="http://schemas.openxmlformats.org/officeDocument/2006/relationships/image"/><Relationship Id="rId7" Target="../media/image37.png" Type="http://schemas.openxmlformats.org/officeDocument/2006/relationships/image"/><Relationship Id="rId8" Target="../media/image8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7.png" Type="http://schemas.openxmlformats.org/officeDocument/2006/relationships/image"/><Relationship Id="rId6" Target="../media/image24.png" Type="http://schemas.openxmlformats.org/officeDocument/2006/relationships/image"/><Relationship Id="rId7" Target="../media/image35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017520"/>
            <a:ext cx="8915400" cy="8915400"/>
            <a:chOff x="0" y="0"/>
            <a:chExt cx="11887200" cy="1188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26387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566160" y="6583680"/>
            <a:ext cx="7132320" cy="7132320"/>
            <a:chOff x="0" y="0"/>
            <a:chExt cx="9509760" cy="9509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09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19225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5830" y="1062990"/>
            <a:ext cx="1028700" cy="1028700"/>
            <a:chOff x="0" y="0"/>
            <a:chExt cx="137160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32458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9561" y="1196721"/>
            <a:ext cx="761238" cy="761238"/>
            <a:chOff x="0" y="0"/>
            <a:chExt cx="1014984" cy="1014984"/>
          </a:xfrm>
        </p:grpSpPr>
        <p:sp>
          <p:nvSpPr>
            <p:cNvPr name="Freeform 9" id="9" descr="icons/white_target.png"/>
            <p:cNvSpPr/>
            <p:nvPr/>
          </p:nvSpPr>
          <p:spPr>
            <a:xfrm flipH="false" flipV="false" rot="0">
              <a:off x="0" y="0"/>
              <a:ext cx="1014984" cy="1014984"/>
            </a:xfrm>
            <a:custGeom>
              <a:avLst/>
              <a:gdLst/>
              <a:ahLst/>
              <a:cxnLst/>
              <a:rect r="r" b="b" t="t" l="l"/>
              <a:pathLst>
                <a:path h="1014984" w="1014984">
                  <a:moveTo>
                    <a:pt x="0" y="0"/>
                  </a:moveTo>
                  <a:lnTo>
                    <a:pt x="1014984" y="0"/>
                  </a:lnTo>
                  <a:lnTo>
                    <a:pt x="1014984" y="1014984"/>
                  </a:lnTo>
                  <a:lnTo>
                    <a:pt x="0" y="1014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724447" y="3601911"/>
            <a:ext cx="5003840" cy="943073"/>
            <a:chOff x="0" y="0"/>
            <a:chExt cx="4857958" cy="9155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57958" cy="915578"/>
            </a:xfrm>
            <a:custGeom>
              <a:avLst/>
              <a:gdLst/>
              <a:ahLst/>
              <a:cxnLst/>
              <a:rect r="r" b="b" t="t" l="l"/>
              <a:pathLst>
                <a:path h="915578" w="4857958">
                  <a:moveTo>
                    <a:pt x="0" y="0"/>
                  </a:moveTo>
                  <a:lnTo>
                    <a:pt x="4857958" y="0"/>
                  </a:lnTo>
                  <a:lnTo>
                    <a:pt x="4857958" y="915578"/>
                  </a:lnTo>
                  <a:lnTo>
                    <a:pt x="0" y="9155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9250" r="-276454" b="-32914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857958" cy="963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 CASE STUDY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65892" y="4544984"/>
            <a:ext cx="15773400" cy="1508760"/>
            <a:chOff x="0" y="0"/>
            <a:chExt cx="21031200" cy="2011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103120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Loan Offer Propensity Model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5554980"/>
            <a:ext cx="14538960" cy="960120"/>
            <a:chOff x="0" y="0"/>
            <a:chExt cx="1938528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85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852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8672" y="6912293"/>
            <a:ext cx="4417695" cy="28575"/>
            <a:chOff x="0" y="0"/>
            <a:chExt cx="5890260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90260" cy="38100"/>
            </a:xfrm>
            <a:custGeom>
              <a:avLst/>
              <a:gdLst/>
              <a:ahLst/>
              <a:cxnLst/>
              <a:rect r="r" b="b" t="t" l="l"/>
              <a:pathLst>
                <a:path h="38100" w="5890260">
                  <a:moveTo>
                    <a:pt x="0" y="0"/>
                  </a:moveTo>
                  <a:lnTo>
                    <a:pt x="5890260" y="381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2962386" r="0" b="-2962386"/>
              </a:stretch>
            </a:blipFill>
            <a:ln w="28575" cap="sq">
              <a:solidFill>
                <a:srgbClr val="4A5A9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08672" y="9079240"/>
            <a:ext cx="10987088" cy="480685"/>
            <a:chOff x="0" y="0"/>
            <a:chExt cx="1463040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Chuene Mosomane  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6486506" y="8928158"/>
            <a:ext cx="1138554" cy="1221682"/>
          </a:xfrm>
          <a:custGeom>
            <a:avLst/>
            <a:gdLst/>
            <a:ahLst/>
            <a:cxnLst/>
            <a:rect r="r" b="b" t="t" l="l"/>
            <a:pathLst>
              <a:path h="1221682" w="1138554">
                <a:moveTo>
                  <a:pt x="0" y="0"/>
                </a:moveTo>
                <a:lnTo>
                  <a:pt x="1138554" y="0"/>
                </a:lnTo>
                <a:lnTo>
                  <a:pt x="1138554" y="1221682"/>
                </a:lnTo>
                <a:lnTo>
                  <a:pt x="0" y="1221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029" t="-23815" r="-32855" b="-28918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8007445" y="980059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172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we'll cover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116455"/>
            <a:ext cx="8111490" cy="2145030"/>
            <a:chOff x="0" y="0"/>
            <a:chExt cx="10815320" cy="2860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53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8153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0667746" y="0"/>
                  </a:lnTo>
                  <a:cubicBezTo>
                    <a:pt x="10749280" y="0"/>
                    <a:pt x="10815320" y="66040"/>
                    <a:pt x="10815320" y="147574"/>
                  </a:cubicBezTo>
                  <a:lnTo>
                    <a:pt x="10815320" y="2712466"/>
                  </a:lnTo>
                  <a:cubicBezTo>
                    <a:pt x="10815320" y="2794000"/>
                    <a:pt x="10749280" y="2860040"/>
                    <a:pt x="1066774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46888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72845" y="2575865"/>
            <a:ext cx="608990" cy="608990"/>
            <a:chOff x="0" y="0"/>
            <a:chExt cx="811987" cy="811987"/>
          </a:xfrm>
        </p:grpSpPr>
        <p:sp>
          <p:nvSpPr>
            <p:cNvPr name="Freeform 13" id="13" descr="icons/target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71700" y="1589827"/>
            <a:ext cx="6377940" cy="1758107"/>
            <a:chOff x="0" y="0"/>
            <a:chExt cx="8503920" cy="23441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03920" cy="2344142"/>
            </a:xfrm>
            <a:custGeom>
              <a:avLst/>
              <a:gdLst/>
              <a:ahLst/>
              <a:cxnLst/>
              <a:rect r="r" b="b" t="t" l="l"/>
              <a:pathLst>
                <a:path h="2344142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83" r="0" b="1371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8503920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Business Problem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171700" y="2764155"/>
            <a:ext cx="619506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The bank wants to offer their customers a product - loan. It wants to identify which customers to approach</a:t>
            </a: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, and if there is any bias in the data.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9591675" y="2116455"/>
            <a:ext cx="8111490" cy="2145030"/>
            <a:chOff x="0" y="0"/>
            <a:chExt cx="10815320" cy="2860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153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8153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0667746" y="0"/>
                  </a:lnTo>
                  <a:cubicBezTo>
                    <a:pt x="10749280" y="0"/>
                    <a:pt x="10815320" y="66040"/>
                    <a:pt x="10815320" y="147574"/>
                  </a:cubicBezTo>
                  <a:lnTo>
                    <a:pt x="10815320" y="2712466"/>
                  </a:lnTo>
                  <a:cubicBezTo>
                    <a:pt x="10815320" y="2794000"/>
                    <a:pt x="10749280" y="2860040"/>
                    <a:pt x="1066774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44100" y="2468880"/>
            <a:ext cx="822960" cy="822960"/>
            <a:chOff x="0" y="0"/>
            <a:chExt cx="10972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1085" y="2575865"/>
            <a:ext cx="608990" cy="608990"/>
            <a:chOff x="0" y="0"/>
            <a:chExt cx="811987" cy="811987"/>
          </a:xfrm>
        </p:grpSpPr>
        <p:sp>
          <p:nvSpPr>
            <p:cNvPr name="Freeform 23" id="23" descr="icons/database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6" b="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041380" y="2318004"/>
            <a:ext cx="6377940" cy="548640"/>
            <a:chOff x="0" y="0"/>
            <a:chExt cx="85039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03920" cy="731520"/>
            </a:xfrm>
            <a:custGeom>
              <a:avLst/>
              <a:gdLst/>
              <a:ahLst/>
              <a:cxnLst/>
              <a:rect r="r" b="b" t="t" l="l"/>
              <a:pathLst>
                <a:path h="73152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13" r="0" b="-17651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503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&amp; EDA findings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13435" y="4516755"/>
            <a:ext cx="8111490" cy="2145030"/>
            <a:chOff x="0" y="0"/>
            <a:chExt cx="10815320" cy="2860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153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8153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0667746" y="0"/>
                  </a:lnTo>
                  <a:cubicBezTo>
                    <a:pt x="10749280" y="0"/>
                    <a:pt x="10815320" y="66040"/>
                    <a:pt x="10815320" y="147574"/>
                  </a:cubicBezTo>
                  <a:lnTo>
                    <a:pt x="10815320" y="2712466"/>
                  </a:lnTo>
                  <a:cubicBezTo>
                    <a:pt x="10815320" y="2794000"/>
                    <a:pt x="10749280" y="2860040"/>
                    <a:pt x="1066774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4869180"/>
            <a:ext cx="822960" cy="822960"/>
            <a:chOff x="0" y="0"/>
            <a:chExt cx="10972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72845" y="4976165"/>
            <a:ext cx="608990" cy="608990"/>
            <a:chOff x="0" y="0"/>
            <a:chExt cx="811987" cy="811987"/>
          </a:xfrm>
        </p:grpSpPr>
        <p:sp>
          <p:nvSpPr>
            <p:cNvPr name="Freeform 32" id="32" descr="icons/alertTriangle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6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263140" y="3831163"/>
            <a:ext cx="6377940" cy="1758107"/>
            <a:chOff x="0" y="0"/>
            <a:chExt cx="8503920" cy="234414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03920" cy="2344142"/>
            </a:xfrm>
            <a:custGeom>
              <a:avLst/>
              <a:gdLst/>
              <a:ahLst/>
              <a:cxnLst/>
              <a:rect r="r" b="b" t="t" l="l"/>
              <a:pathLst>
                <a:path h="2344142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83" r="0" b="1371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8503920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Propensity Modelling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05925" y="4516755"/>
            <a:ext cx="8397240" cy="2539736"/>
            <a:chOff x="0" y="0"/>
            <a:chExt cx="10815320" cy="327108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15320" cy="3271081"/>
            </a:xfrm>
            <a:custGeom>
              <a:avLst/>
              <a:gdLst/>
              <a:ahLst/>
              <a:cxnLst/>
              <a:rect r="r" b="b" t="t" l="l"/>
              <a:pathLst>
                <a:path h="3271081" w="10815320">
                  <a:moveTo>
                    <a:pt x="0" y="168783"/>
                  </a:moveTo>
                  <a:cubicBezTo>
                    <a:pt x="0" y="75531"/>
                    <a:pt x="66040" y="0"/>
                    <a:pt x="147574" y="0"/>
                  </a:cubicBezTo>
                  <a:lnTo>
                    <a:pt x="10667746" y="0"/>
                  </a:lnTo>
                  <a:cubicBezTo>
                    <a:pt x="10749280" y="0"/>
                    <a:pt x="10815320" y="75531"/>
                    <a:pt x="10815320" y="168783"/>
                  </a:cubicBezTo>
                  <a:lnTo>
                    <a:pt x="10815320" y="3102298"/>
                  </a:lnTo>
                  <a:cubicBezTo>
                    <a:pt x="10815320" y="3195550"/>
                    <a:pt x="10749280" y="3271081"/>
                    <a:pt x="10667746" y="3271081"/>
                  </a:cubicBezTo>
                  <a:lnTo>
                    <a:pt x="147574" y="3271081"/>
                  </a:lnTo>
                  <a:cubicBezTo>
                    <a:pt x="66040" y="3271081"/>
                    <a:pt x="0" y="3195550"/>
                    <a:pt x="0" y="31022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944100" y="4869180"/>
            <a:ext cx="822960" cy="822960"/>
            <a:chOff x="0" y="0"/>
            <a:chExt cx="1097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051085" y="4976165"/>
            <a:ext cx="608990" cy="608990"/>
            <a:chOff x="0" y="0"/>
            <a:chExt cx="811987" cy="811987"/>
          </a:xfrm>
        </p:grpSpPr>
        <p:sp>
          <p:nvSpPr>
            <p:cNvPr name="Freeform 41" id="41" descr="icons/layers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6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041380" y="4532376"/>
            <a:ext cx="6377940" cy="548640"/>
            <a:chOff x="0" y="0"/>
            <a:chExt cx="85039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503920" cy="731520"/>
            </a:xfrm>
            <a:custGeom>
              <a:avLst/>
              <a:gdLst/>
              <a:ahLst/>
              <a:cxnLst/>
              <a:rect r="r" b="b" t="t" l="l"/>
              <a:pathLst>
                <a:path h="73152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13" r="0" b="-17651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8503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Feature engineering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13435" y="6917055"/>
            <a:ext cx="8111490" cy="2145030"/>
            <a:chOff x="0" y="0"/>
            <a:chExt cx="10815320" cy="2860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8153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8153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0667746" y="0"/>
                  </a:lnTo>
                  <a:cubicBezTo>
                    <a:pt x="10749280" y="0"/>
                    <a:pt x="10815320" y="66040"/>
                    <a:pt x="10815320" y="147574"/>
                  </a:cubicBezTo>
                  <a:lnTo>
                    <a:pt x="10815320" y="2712466"/>
                  </a:lnTo>
                  <a:cubicBezTo>
                    <a:pt x="10815320" y="2794000"/>
                    <a:pt x="10749280" y="2860040"/>
                    <a:pt x="1066774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65860" y="7269480"/>
            <a:ext cx="822960" cy="822960"/>
            <a:chOff x="0" y="0"/>
            <a:chExt cx="109728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72845" y="7376465"/>
            <a:ext cx="608990" cy="608990"/>
            <a:chOff x="0" y="0"/>
            <a:chExt cx="811987" cy="811987"/>
          </a:xfrm>
        </p:grpSpPr>
        <p:sp>
          <p:nvSpPr>
            <p:cNvPr name="Freeform 50" id="50" descr="icons/barChart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6" b="6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263140" y="7118604"/>
            <a:ext cx="6377940" cy="548640"/>
            <a:chOff x="0" y="0"/>
            <a:chExt cx="85039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503920" cy="731520"/>
            </a:xfrm>
            <a:custGeom>
              <a:avLst/>
              <a:gdLst/>
              <a:ahLst/>
              <a:cxnLst/>
              <a:rect r="r" b="b" t="t" l="l"/>
              <a:pathLst>
                <a:path h="73152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13" r="0" b="-17651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8503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 &amp; fairness results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201150" y="7189841"/>
            <a:ext cx="8502015" cy="2248302"/>
            <a:chOff x="0" y="0"/>
            <a:chExt cx="10815320" cy="2860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8153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8153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0667746" y="0"/>
                  </a:lnTo>
                  <a:cubicBezTo>
                    <a:pt x="10749280" y="0"/>
                    <a:pt x="10815320" y="66040"/>
                    <a:pt x="10815320" y="147574"/>
                  </a:cubicBezTo>
                  <a:lnTo>
                    <a:pt x="10815320" y="2712466"/>
                  </a:lnTo>
                  <a:cubicBezTo>
                    <a:pt x="10815320" y="2794000"/>
                    <a:pt x="10749280" y="2860040"/>
                    <a:pt x="1066774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944100" y="7269480"/>
            <a:ext cx="822960" cy="822960"/>
            <a:chOff x="0" y="0"/>
            <a:chExt cx="109728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051085" y="7376465"/>
            <a:ext cx="608990" cy="608990"/>
            <a:chOff x="0" y="0"/>
            <a:chExt cx="811987" cy="811987"/>
          </a:xfrm>
        </p:grpSpPr>
        <p:sp>
          <p:nvSpPr>
            <p:cNvPr name="Freeform 59" id="59" descr="icons/server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6" b="6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041380" y="7406640"/>
            <a:ext cx="6377940" cy="548640"/>
            <a:chOff x="0" y="0"/>
            <a:chExt cx="850392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503920" cy="731520"/>
            </a:xfrm>
            <a:custGeom>
              <a:avLst/>
              <a:gdLst/>
              <a:ahLst/>
              <a:cxnLst/>
              <a:rect r="r" b="b" t="t" l="l"/>
              <a:pathLst>
                <a:path h="73152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13" r="0" b="-17651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8503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MLOps: pipeline, monitoring, next steps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Chuene Mosomane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16477221" y="9514342"/>
            <a:ext cx="1120407" cy="613168"/>
          </a:xfrm>
          <a:custGeom>
            <a:avLst/>
            <a:gdLst/>
            <a:ahLst/>
            <a:cxnLst/>
            <a:rect r="r" b="b" t="t" l="l"/>
            <a:pathLst>
              <a:path h="613168" w="1120407">
                <a:moveTo>
                  <a:pt x="0" y="0"/>
                </a:moveTo>
                <a:lnTo>
                  <a:pt x="1120407" y="0"/>
                </a:lnTo>
                <a:lnTo>
                  <a:pt x="1120407" y="613168"/>
                </a:lnTo>
                <a:lnTo>
                  <a:pt x="0" y="613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11132820" y="2901696"/>
            <a:ext cx="619506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We have three tables: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customers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loans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transactions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What the three source actually looks like.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988820" y="5242560"/>
            <a:ext cx="619506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I develop a 2 levels-framework - customer and loan levels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Then build a classification model to predict the probability of a which customers will take up a loan.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The customers idenfied are stored in a CSV file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- 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72" id="72"/>
          <p:cNvSpPr txBox="true"/>
          <p:nvPr/>
        </p:nvSpPr>
        <p:spPr>
          <a:xfrm rot="0">
            <a:off x="11041380" y="5012055"/>
            <a:ext cx="6661785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I engineered financial features to check the</a:t>
            </a: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 financial-health KPIs behind the model, in plain terms: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Net cash flow, balance volatility, low balance frequency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Balance to income ratio, burn rate.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354580" y="7702296"/>
            <a:ext cx="619506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I performed feature selection to rank discriminant features.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Then train and evaluate a Logistic regression with 85/15 split.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Lastly generate a fairness report: approval by age and gender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041380" y="7808966"/>
            <a:ext cx="619506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The solution is written in PySpark and runs in production.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Monitoring for key metrics is done in Grafana dashboards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Recomendations: This solution is used by the marketing team for promotional intervension.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7703165" y="971823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B6472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172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Which customers should we approach with a loan offer?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3020" y="1992994"/>
            <a:ext cx="8641080" cy="1758107"/>
            <a:chOff x="0" y="0"/>
            <a:chExt cx="11521440" cy="2344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21440" cy="2344142"/>
            </a:xfrm>
            <a:custGeom>
              <a:avLst/>
              <a:gdLst/>
              <a:ahLst/>
              <a:cxnLst/>
              <a:rect r="r" b="b" t="t" l="l"/>
              <a:pathLst>
                <a:path h="2344142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165" r="0" b="-1137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1521440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Objective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58600" y="2323407"/>
            <a:ext cx="6583680" cy="7063740"/>
            <a:chOff x="0" y="0"/>
            <a:chExt cx="8778240" cy="9418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78240" cy="9418320"/>
            </a:xfrm>
            <a:custGeom>
              <a:avLst/>
              <a:gdLst/>
              <a:ahLst/>
              <a:cxnLst/>
              <a:rect r="r" b="b" t="t" l="l"/>
              <a:pathLst>
                <a:path h="9418320" w="8778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595360" y="0"/>
                  </a:lnTo>
                  <a:cubicBezTo>
                    <a:pt x="8696325" y="0"/>
                    <a:pt x="8778240" y="81915"/>
                    <a:pt x="8778240" y="182880"/>
                  </a:cubicBezTo>
                  <a:lnTo>
                    <a:pt x="8778240" y="9235440"/>
                  </a:lnTo>
                  <a:cubicBezTo>
                    <a:pt x="8778240" y="9336405"/>
                    <a:pt x="8696325" y="9418320"/>
                    <a:pt x="8595360" y="9418320"/>
                  </a:cubicBezTo>
                  <a:lnTo>
                    <a:pt x="182880" y="9418320"/>
                  </a:lnTo>
                  <a:cubicBezTo>
                    <a:pt x="81915" y="9418320"/>
                    <a:pt x="0" y="9336405"/>
                    <a:pt x="0" y="92354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691062" y="2323407"/>
            <a:ext cx="5623560" cy="548640"/>
            <a:chOff x="0" y="0"/>
            <a:chExt cx="749808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98080" cy="731520"/>
            </a:xfrm>
            <a:custGeom>
              <a:avLst/>
              <a:gdLst/>
              <a:ahLst/>
              <a:cxnLst/>
              <a:rect r="r" b="b" t="t" l="l"/>
              <a:pathLst>
                <a:path h="7315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74980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it matters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49298" y="3479292"/>
            <a:ext cx="164592" cy="164592"/>
            <a:chOff x="0" y="0"/>
            <a:chExt cx="219456" cy="2194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049298" y="4937760"/>
            <a:ext cx="164592" cy="164592"/>
            <a:chOff x="0" y="0"/>
            <a:chExt cx="219456" cy="219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49298" y="6397752"/>
            <a:ext cx="164592" cy="164592"/>
            <a:chOff x="0" y="0"/>
            <a:chExt cx="219456" cy="2194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Chuene Mosomane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911828" y="9549072"/>
            <a:ext cx="955560" cy="573336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03020" y="3873627"/>
            <a:ext cx="845820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Use exploratory analytics, visualization, and machine learning on customer, transaction, and loan data to identify clients we should proactively approach with a loan offer.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31268" y="3216818"/>
            <a:ext cx="516636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374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Targeted offers convert better than blanket campaigns and cost less to run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31268" y="4590288"/>
            <a:ext cx="516636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374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Getting this wrong at scale means either missed revenue or reputational/regulatory risk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67260" y="6256336"/>
            <a:ext cx="516636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374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A model that can't explain *why* it flags someone, it is a liability in a regulated lending context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DATA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-554517"/>
            <a:ext cx="12365182" cy="3303594"/>
            <a:chOff x="0" y="0"/>
            <a:chExt cx="16486909" cy="4404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86908" cy="4404792"/>
            </a:xfrm>
            <a:custGeom>
              <a:avLst/>
              <a:gdLst/>
              <a:ahLst/>
              <a:cxnLst/>
              <a:rect r="r" b="b" t="t" l="l"/>
              <a:pathLst>
                <a:path h="4404792" w="16486908">
                  <a:moveTo>
                    <a:pt x="0" y="0"/>
                  </a:moveTo>
                  <a:lnTo>
                    <a:pt x="16486908" y="0"/>
                  </a:lnTo>
                  <a:lnTo>
                    <a:pt x="16486908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47" r="-33109" b="-11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6486909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Three tables, one customer ID to join them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185035"/>
            <a:ext cx="5299710" cy="5368290"/>
            <a:chOff x="0" y="0"/>
            <a:chExt cx="7066280" cy="7157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7157720"/>
            </a:xfrm>
            <a:custGeom>
              <a:avLst/>
              <a:gdLst/>
              <a:ahLst/>
              <a:cxnLst/>
              <a:rect r="r" b="b" t="t" l="l"/>
              <a:pathLst>
                <a:path h="7157720" w="70662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882765" y="0"/>
                  </a:lnTo>
                  <a:cubicBezTo>
                    <a:pt x="6984111" y="0"/>
                    <a:pt x="7066280" y="82169"/>
                    <a:pt x="7066280" y="183515"/>
                  </a:cubicBezTo>
                  <a:lnTo>
                    <a:pt x="7066280" y="6974205"/>
                  </a:lnTo>
                  <a:cubicBezTo>
                    <a:pt x="7066280" y="7075551"/>
                    <a:pt x="6984111" y="7157720"/>
                    <a:pt x="6882765" y="7157720"/>
                  </a:cubicBezTo>
                  <a:lnTo>
                    <a:pt x="183515" y="7157720"/>
                  </a:lnTo>
                  <a:cubicBezTo>
                    <a:pt x="82169" y="7157720"/>
                    <a:pt x="0" y="7075551"/>
                    <a:pt x="0" y="697420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880360" y="2640330"/>
            <a:ext cx="1165860" cy="1165860"/>
            <a:chOff x="0" y="0"/>
            <a:chExt cx="155448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031922" y="2791892"/>
            <a:ext cx="862736" cy="862736"/>
            <a:chOff x="0" y="0"/>
            <a:chExt cx="1150315" cy="1150315"/>
          </a:xfrm>
        </p:grpSpPr>
        <p:sp>
          <p:nvSpPr>
            <p:cNvPr name="Freeform 13" id="13" descr="icons/users.png"/>
            <p:cNvSpPr/>
            <p:nvPr/>
          </p:nvSpPr>
          <p:spPr>
            <a:xfrm flipH="false" flipV="false" rot="0">
              <a:off x="0" y="0"/>
              <a:ext cx="1150366" cy="1150366"/>
            </a:xfrm>
            <a:custGeom>
              <a:avLst/>
              <a:gdLst/>
              <a:ahLst/>
              <a:cxnLst/>
              <a:rect r="r" b="b" t="t" l="l"/>
              <a:pathLst>
                <a:path h="1150366" w="1150366">
                  <a:moveTo>
                    <a:pt x="0" y="0"/>
                  </a:moveTo>
                  <a:lnTo>
                    <a:pt x="1150366" y="0"/>
                  </a:lnTo>
                  <a:lnTo>
                    <a:pt x="1150366" y="1150366"/>
                  </a:lnTo>
                  <a:lnTo>
                    <a:pt x="0" y="1150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4046220"/>
            <a:ext cx="4732020" cy="548640"/>
            <a:chOff x="0" y="0"/>
            <a:chExt cx="63093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309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Customers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3020" y="4800600"/>
            <a:ext cx="4320540" cy="548640"/>
            <a:chOff x="0" y="0"/>
            <a:chExt cx="576072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76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Gender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03020" y="5376672"/>
            <a:ext cx="4320540" cy="548640"/>
            <a:chOff x="0" y="0"/>
            <a:chExt cx="57607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76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Age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03020" y="5952744"/>
            <a:ext cx="4320540" cy="548640"/>
            <a:chOff x="0" y="0"/>
            <a:chExt cx="57607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76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Income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6789420"/>
            <a:ext cx="4732020" cy="548640"/>
            <a:chOff x="0" y="0"/>
            <a:chExt cx="630936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6309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1E276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One row per client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74155" y="2185035"/>
            <a:ext cx="5299710" cy="5368290"/>
            <a:chOff x="0" y="0"/>
            <a:chExt cx="7066280" cy="7157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66280" cy="7157720"/>
            </a:xfrm>
            <a:custGeom>
              <a:avLst/>
              <a:gdLst/>
              <a:ahLst/>
              <a:cxnLst/>
              <a:rect r="r" b="b" t="t" l="l"/>
              <a:pathLst>
                <a:path h="7157720" w="70662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882765" y="0"/>
                  </a:lnTo>
                  <a:cubicBezTo>
                    <a:pt x="6984111" y="0"/>
                    <a:pt x="7066280" y="82169"/>
                    <a:pt x="7066280" y="183515"/>
                  </a:cubicBezTo>
                  <a:lnTo>
                    <a:pt x="7066280" y="6974205"/>
                  </a:lnTo>
                  <a:cubicBezTo>
                    <a:pt x="7066280" y="7075551"/>
                    <a:pt x="6984111" y="7157720"/>
                    <a:pt x="6882765" y="7157720"/>
                  </a:cubicBezTo>
                  <a:lnTo>
                    <a:pt x="183515" y="7157720"/>
                  </a:lnTo>
                  <a:cubicBezTo>
                    <a:pt x="82169" y="7157720"/>
                    <a:pt x="0" y="7075551"/>
                    <a:pt x="0" y="697420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641080" y="2640330"/>
            <a:ext cx="1165860" cy="1165860"/>
            <a:chOff x="0" y="0"/>
            <a:chExt cx="1554480" cy="1554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792642" y="2791892"/>
            <a:ext cx="862736" cy="862736"/>
            <a:chOff x="0" y="0"/>
            <a:chExt cx="1150315" cy="1150315"/>
          </a:xfrm>
        </p:grpSpPr>
        <p:sp>
          <p:nvSpPr>
            <p:cNvPr name="Freeform 34" id="34" descr="icons/activity.png"/>
            <p:cNvSpPr/>
            <p:nvPr/>
          </p:nvSpPr>
          <p:spPr>
            <a:xfrm flipH="false" flipV="false" rot="0">
              <a:off x="0" y="0"/>
              <a:ext cx="1150366" cy="1150366"/>
            </a:xfrm>
            <a:custGeom>
              <a:avLst/>
              <a:gdLst/>
              <a:ahLst/>
              <a:cxnLst/>
              <a:rect r="r" b="b" t="t" l="l"/>
              <a:pathLst>
                <a:path h="1150366" w="1150366">
                  <a:moveTo>
                    <a:pt x="0" y="0"/>
                  </a:moveTo>
                  <a:lnTo>
                    <a:pt x="1150366" y="0"/>
                  </a:lnTo>
                  <a:lnTo>
                    <a:pt x="1150366" y="1150366"/>
                  </a:lnTo>
                  <a:lnTo>
                    <a:pt x="0" y="1150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858000" y="4046220"/>
            <a:ext cx="4732020" cy="548640"/>
            <a:chOff x="0" y="0"/>
            <a:chExt cx="630936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309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Transactions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063740" y="4800600"/>
            <a:ext cx="4320540" cy="548640"/>
            <a:chOff x="0" y="0"/>
            <a:chExt cx="57607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76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Date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063740" y="5376672"/>
            <a:ext cx="4320540" cy="548640"/>
            <a:chOff x="0" y="0"/>
            <a:chExt cx="57607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76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Amount (+in / -out)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063740" y="5952744"/>
            <a:ext cx="4320540" cy="548640"/>
            <a:chOff x="0" y="0"/>
            <a:chExt cx="57607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76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Balance after transaction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58000" y="6789420"/>
            <a:ext cx="4732020" cy="548640"/>
            <a:chOff x="0" y="0"/>
            <a:chExt cx="63093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6309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1E276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Many rows per client, over time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34875" y="2185035"/>
            <a:ext cx="5299710" cy="5368290"/>
            <a:chOff x="0" y="0"/>
            <a:chExt cx="7066280" cy="7157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66280" cy="7157720"/>
            </a:xfrm>
            <a:custGeom>
              <a:avLst/>
              <a:gdLst/>
              <a:ahLst/>
              <a:cxnLst/>
              <a:rect r="r" b="b" t="t" l="l"/>
              <a:pathLst>
                <a:path h="7157720" w="70662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882765" y="0"/>
                  </a:lnTo>
                  <a:cubicBezTo>
                    <a:pt x="6984111" y="0"/>
                    <a:pt x="7066280" y="82169"/>
                    <a:pt x="7066280" y="183515"/>
                  </a:cubicBezTo>
                  <a:lnTo>
                    <a:pt x="7066280" y="6974205"/>
                  </a:lnTo>
                  <a:cubicBezTo>
                    <a:pt x="7066280" y="7075551"/>
                    <a:pt x="6984111" y="7157720"/>
                    <a:pt x="6882765" y="7157720"/>
                  </a:cubicBezTo>
                  <a:lnTo>
                    <a:pt x="183515" y="7157720"/>
                  </a:lnTo>
                  <a:cubicBezTo>
                    <a:pt x="82169" y="7157720"/>
                    <a:pt x="0" y="7075551"/>
                    <a:pt x="0" y="697420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401800" y="2640330"/>
            <a:ext cx="1165860" cy="1165860"/>
            <a:chOff x="0" y="0"/>
            <a:chExt cx="1554480" cy="15544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553362" y="2791892"/>
            <a:ext cx="862736" cy="862736"/>
            <a:chOff x="0" y="0"/>
            <a:chExt cx="1150315" cy="1150315"/>
          </a:xfrm>
        </p:grpSpPr>
        <p:sp>
          <p:nvSpPr>
            <p:cNvPr name="Freeform 55" id="55" descr="icons/briefcase.png"/>
            <p:cNvSpPr/>
            <p:nvPr/>
          </p:nvSpPr>
          <p:spPr>
            <a:xfrm flipH="false" flipV="false" rot="0">
              <a:off x="0" y="0"/>
              <a:ext cx="1150366" cy="1150366"/>
            </a:xfrm>
            <a:custGeom>
              <a:avLst/>
              <a:gdLst/>
              <a:ahLst/>
              <a:cxnLst/>
              <a:rect r="r" b="b" t="t" l="l"/>
              <a:pathLst>
                <a:path h="1150366" w="1150366">
                  <a:moveTo>
                    <a:pt x="0" y="0"/>
                  </a:moveTo>
                  <a:lnTo>
                    <a:pt x="1150366" y="0"/>
                  </a:lnTo>
                  <a:lnTo>
                    <a:pt x="1150366" y="1150366"/>
                  </a:lnTo>
                  <a:lnTo>
                    <a:pt x="0" y="1150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618720" y="4046220"/>
            <a:ext cx="4732020" cy="548640"/>
            <a:chOff x="0" y="0"/>
            <a:chExt cx="630936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6309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Loans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824460" y="4800600"/>
            <a:ext cx="4320540" cy="548640"/>
            <a:chOff x="0" y="0"/>
            <a:chExt cx="57607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576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Date applied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824460" y="5376672"/>
            <a:ext cx="4320540" cy="548640"/>
            <a:chOff x="0" y="0"/>
            <a:chExt cx="576072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76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Amount requested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824460" y="5952744"/>
            <a:ext cx="4320540" cy="548640"/>
            <a:chOff x="0" y="0"/>
            <a:chExt cx="576072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576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Outcome: TakeUp / Declined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618720" y="6789420"/>
            <a:ext cx="4732020" cy="548640"/>
            <a:chOff x="0" y="0"/>
            <a:chExt cx="630936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6309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1E276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One row per historical application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22960" y="7886700"/>
            <a:ext cx="16802100" cy="1165860"/>
            <a:chOff x="0" y="0"/>
            <a:chExt cx="22402800" cy="15544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402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02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256496" y="0"/>
                  </a:lnTo>
                  <a:cubicBezTo>
                    <a:pt x="22337268" y="0"/>
                    <a:pt x="22402800" y="65532"/>
                    <a:pt x="22402800" y="146304"/>
                  </a:cubicBezTo>
                  <a:lnTo>
                    <a:pt x="22402800" y="1408176"/>
                  </a:lnTo>
                  <a:cubicBezTo>
                    <a:pt x="22402800" y="1488948"/>
                    <a:pt x="22337268" y="1554480"/>
                    <a:pt x="2225649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34440" y="8133588"/>
            <a:ext cx="685800" cy="685800"/>
            <a:chOff x="0" y="0"/>
            <a:chExt cx="914400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CE6F7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23594" y="8222742"/>
            <a:ext cx="507492" cy="507492"/>
            <a:chOff x="0" y="0"/>
            <a:chExt cx="676656" cy="676656"/>
          </a:xfrm>
        </p:grpSpPr>
        <p:sp>
          <p:nvSpPr>
            <p:cNvPr name="Freeform 76" id="76" descr="icons/gitBranch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2125980" y="8161020"/>
            <a:ext cx="14538960" cy="797955"/>
            <a:chOff x="0" y="0"/>
            <a:chExt cx="19385280" cy="106394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9385280" cy="1063941"/>
            </a:xfrm>
            <a:custGeom>
              <a:avLst/>
              <a:gdLst/>
              <a:ahLst/>
              <a:cxnLst/>
              <a:rect r="r" b="b" t="t" l="l"/>
              <a:pathLst>
                <a:path h="1063941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063941"/>
                  </a:lnTo>
                  <a:lnTo>
                    <a:pt x="0" y="10639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752" r="0" b="-30229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9385280" cy="11115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Joined on customer ID into two working tables: a customer-level view (for EDA and segmentation) and a loan-application-level view (for modelling — see slide 6).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23900" y="9710928"/>
            <a:ext cx="10972800" cy="411480"/>
            <a:chOff x="0" y="0"/>
            <a:chExt cx="14630400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Chuene Mosomane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12903587" y="90351"/>
            <a:ext cx="5172023" cy="1808934"/>
          </a:xfrm>
          <a:custGeom>
            <a:avLst/>
            <a:gdLst/>
            <a:ahLst/>
            <a:cxnLst/>
            <a:rect r="r" b="b" t="t" l="l"/>
            <a:pathLst>
              <a:path h="1808934" w="5172023">
                <a:moveTo>
                  <a:pt x="0" y="0"/>
                </a:moveTo>
                <a:lnTo>
                  <a:pt x="5172023" y="0"/>
                </a:lnTo>
                <a:lnTo>
                  <a:pt x="5172023" y="1808934"/>
                </a:lnTo>
                <a:lnTo>
                  <a:pt x="0" y="18089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7" id="87"/>
          <p:cNvSpPr txBox="true"/>
          <p:nvPr/>
        </p:nvSpPr>
        <p:spPr>
          <a:xfrm rot="0">
            <a:off x="17921945" y="971823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Freeform 88" id="88"/>
          <p:cNvSpPr/>
          <p:nvPr/>
        </p:nvSpPr>
        <p:spPr>
          <a:xfrm flipH="false" flipV="false" rot="0">
            <a:off x="16584797" y="9509240"/>
            <a:ext cx="1120407" cy="613168"/>
          </a:xfrm>
          <a:custGeom>
            <a:avLst/>
            <a:gdLst/>
            <a:ahLst/>
            <a:cxnLst/>
            <a:rect r="r" b="b" t="t" l="l"/>
            <a:pathLst>
              <a:path h="613168" w="1120407">
                <a:moveTo>
                  <a:pt x="0" y="0"/>
                </a:moveTo>
                <a:lnTo>
                  <a:pt x="1120406" y="0"/>
                </a:lnTo>
                <a:lnTo>
                  <a:pt x="1120406" y="613168"/>
                </a:lnTo>
                <a:lnTo>
                  <a:pt x="0" y="6131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-858289"/>
            <a:ext cx="16459200" cy="3303594"/>
            <a:chOff x="0" y="0"/>
            <a:chExt cx="21945600" cy="4404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are the Demographics?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690657" y="207614"/>
            <a:ext cx="6368743" cy="3873014"/>
          </a:xfrm>
          <a:custGeom>
            <a:avLst/>
            <a:gdLst/>
            <a:ahLst/>
            <a:cxnLst/>
            <a:rect r="r" b="b" t="t" l="l"/>
            <a:pathLst>
              <a:path h="3873014" w="6368743">
                <a:moveTo>
                  <a:pt x="0" y="0"/>
                </a:moveTo>
                <a:lnTo>
                  <a:pt x="6368743" y="0"/>
                </a:lnTo>
                <a:lnTo>
                  <a:pt x="6368743" y="3873014"/>
                </a:lnTo>
                <a:lnTo>
                  <a:pt x="0" y="3873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9023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45042" y="5334388"/>
            <a:ext cx="7042958" cy="4780714"/>
          </a:xfrm>
          <a:custGeom>
            <a:avLst/>
            <a:gdLst/>
            <a:ahLst/>
            <a:cxnLst/>
            <a:rect r="r" b="b" t="t" l="l"/>
            <a:pathLst>
              <a:path h="4780714" w="7042958">
                <a:moveTo>
                  <a:pt x="0" y="0"/>
                </a:moveTo>
                <a:lnTo>
                  <a:pt x="7042958" y="0"/>
                </a:lnTo>
                <a:lnTo>
                  <a:pt x="7042958" y="4780714"/>
                </a:lnTo>
                <a:lnTo>
                  <a:pt x="0" y="4780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991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84556" y="1646069"/>
            <a:ext cx="5890289" cy="3826924"/>
          </a:xfrm>
          <a:custGeom>
            <a:avLst/>
            <a:gdLst/>
            <a:ahLst/>
            <a:cxnLst/>
            <a:rect r="r" b="b" t="t" l="l"/>
            <a:pathLst>
              <a:path h="3826924" w="5890289">
                <a:moveTo>
                  <a:pt x="0" y="0"/>
                </a:moveTo>
                <a:lnTo>
                  <a:pt x="5890288" y="0"/>
                </a:lnTo>
                <a:lnTo>
                  <a:pt x="5890288" y="3826924"/>
                </a:lnTo>
                <a:lnTo>
                  <a:pt x="0" y="38269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1487902"/>
            <a:ext cx="5928791" cy="3985091"/>
          </a:xfrm>
          <a:custGeom>
            <a:avLst/>
            <a:gdLst/>
            <a:ahLst/>
            <a:cxnLst/>
            <a:rect r="r" b="b" t="t" l="l"/>
            <a:pathLst>
              <a:path h="3985091" w="5928791">
                <a:moveTo>
                  <a:pt x="0" y="0"/>
                </a:moveTo>
                <a:lnTo>
                  <a:pt x="5928791" y="0"/>
                </a:lnTo>
                <a:lnTo>
                  <a:pt x="5928791" y="3985091"/>
                </a:lnTo>
                <a:lnTo>
                  <a:pt x="0" y="39850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82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6974539"/>
            <a:ext cx="6468175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7362" indent="-293681" lvl="1">
              <a:lnSpc>
                <a:spcPts val="3264"/>
              </a:lnSpc>
              <a:spcBef>
                <a:spcPct val="0"/>
              </a:spcBef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Our customers consists of a fair distribution of male and female who earns ~R10000 and mostly  are youth as age peaks around 35 years.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909307" y="962631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760" y="-1024544"/>
            <a:ext cx="16459200" cy="3303594"/>
            <a:chOff x="0" y="0"/>
            <a:chExt cx="21945600" cy="4404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is the disposable cash our customers have?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5760" y="2081485"/>
            <a:ext cx="17400455" cy="5316806"/>
          </a:xfrm>
          <a:custGeom>
            <a:avLst/>
            <a:gdLst/>
            <a:ahLst/>
            <a:cxnLst/>
            <a:rect r="r" b="b" t="t" l="l"/>
            <a:pathLst>
              <a:path h="5316806" w="17400455">
                <a:moveTo>
                  <a:pt x="0" y="0"/>
                </a:moveTo>
                <a:lnTo>
                  <a:pt x="17400455" y="0"/>
                </a:lnTo>
                <a:lnTo>
                  <a:pt x="17400455" y="5316806"/>
                </a:lnTo>
                <a:lnTo>
                  <a:pt x="0" y="5316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5760" y="8317923"/>
            <a:ext cx="947823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2132" indent="-281066" lvl="1">
              <a:lnSpc>
                <a:spcPts val="3124"/>
              </a:lnSpc>
              <a:spcBef>
                <a:spcPct val="0"/>
              </a:spcBef>
              <a:buFont typeface="Arial"/>
              <a:buChar char="•"/>
            </a:pPr>
            <a:r>
              <a:rPr lang="en-US" sz="26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 see that  most of existing borrower customers have disposable cash of ~R8000 and only around 10% of our customers have higher disposable cash ~R25000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7920" y="8420100"/>
            <a:ext cx="836008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When we zoom in, we further see that the deposit-only prospect customers have the same disposable cash as the exististing borrowers customers at the tail.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66215" y="960120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4196" y="-1107671"/>
            <a:ext cx="16459200" cy="3303594"/>
            <a:chOff x="0" y="0"/>
            <a:chExt cx="21945600" cy="4404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Does our customers take loans and how much?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195923"/>
            <a:ext cx="16631741" cy="5081921"/>
          </a:xfrm>
          <a:custGeom>
            <a:avLst/>
            <a:gdLst/>
            <a:ahLst/>
            <a:cxnLst/>
            <a:rect r="r" b="b" t="t" l="l"/>
            <a:pathLst>
              <a:path h="5081921" w="16631741">
                <a:moveTo>
                  <a:pt x="0" y="0"/>
                </a:moveTo>
                <a:lnTo>
                  <a:pt x="16631741" y="0"/>
                </a:lnTo>
                <a:lnTo>
                  <a:pt x="16631741" y="5081921"/>
                </a:lnTo>
                <a:lnTo>
                  <a:pt x="0" y="5081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1809" y="8034106"/>
            <a:ext cx="1388420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444" indent="-289722" lvl="1">
              <a:lnSpc>
                <a:spcPts val="3220"/>
              </a:lnSpc>
              <a:buFont typeface="Arial"/>
              <a:buChar char="•"/>
            </a:pPr>
            <a:r>
              <a:rPr lang="en-US" sz="268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Most customers  take up a single loan of around R21000.</a:t>
            </a:r>
          </a:p>
          <a:p>
            <a:pPr algn="l" marL="579444" indent="-289722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68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 shall use this feature because it has a normal distribution shape, to engineer KPI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60441" y="968865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434445"/>
            <a:ext cx="13875900" cy="4852555"/>
          </a:xfrm>
          <a:custGeom>
            <a:avLst/>
            <a:gdLst/>
            <a:ahLst/>
            <a:cxnLst/>
            <a:rect r="r" b="b" t="t" l="l"/>
            <a:pathLst>
              <a:path h="4852555" w="13875900">
                <a:moveTo>
                  <a:pt x="0" y="0"/>
                </a:moveTo>
                <a:lnTo>
                  <a:pt x="13875900" y="0"/>
                </a:lnTo>
                <a:lnTo>
                  <a:pt x="13875900" y="4852555"/>
                </a:lnTo>
                <a:lnTo>
                  <a:pt x="0" y="4852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4730" y="218209"/>
            <a:ext cx="7115061" cy="4764550"/>
          </a:xfrm>
          <a:custGeom>
            <a:avLst/>
            <a:gdLst/>
            <a:ahLst/>
            <a:cxnLst/>
            <a:rect r="r" b="b" t="t" l="l"/>
            <a:pathLst>
              <a:path h="4764550" w="7115061">
                <a:moveTo>
                  <a:pt x="0" y="0"/>
                </a:moveTo>
                <a:lnTo>
                  <a:pt x="7115061" y="0"/>
                </a:lnTo>
                <a:lnTo>
                  <a:pt x="7115061" y="4764550"/>
                </a:lnTo>
                <a:lnTo>
                  <a:pt x="0" y="4764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21442" y="6123854"/>
            <a:ext cx="3629262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7"/>
              </a:lnSpc>
              <a:spcBef>
                <a:spcPct val="0"/>
              </a:spcBef>
            </a:pPr>
            <a:r>
              <a:rPr lang="en-US" sz="277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Even though it looks like there is less number of people taking up the loan but  there is a increase on the number of loans that are granted.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10530" y="-965997"/>
            <a:ext cx="10744200" cy="3989394"/>
            <a:chOff x="0" y="0"/>
            <a:chExt cx="14325600" cy="5319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25600" cy="5319192"/>
            </a:xfrm>
            <a:custGeom>
              <a:avLst/>
              <a:gdLst/>
              <a:ahLst/>
              <a:cxnLst/>
              <a:rect r="r" b="b" t="t" l="l"/>
              <a:pathLst>
                <a:path h="5319192" w="14325600">
                  <a:moveTo>
                    <a:pt x="0" y="0"/>
                  </a:moveTo>
                  <a:lnTo>
                    <a:pt x="14325600" y="0"/>
                  </a:lnTo>
                  <a:lnTo>
                    <a:pt x="1432560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56" r="-53191" b="757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432560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many customers take-up a loan and what impact does it have on business?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697262" y="954318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-499434"/>
            <a:ext cx="16459200" cy="3303594"/>
            <a:chOff x="0" y="0"/>
            <a:chExt cx="21945600" cy="4404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KPIs behind the model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185035"/>
            <a:ext cx="5299710" cy="3173730"/>
            <a:chOff x="0" y="0"/>
            <a:chExt cx="7066280" cy="4231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6628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6882257" y="0"/>
                  </a:lnTo>
                  <a:cubicBezTo>
                    <a:pt x="6983857" y="0"/>
                    <a:pt x="7066280" y="82423"/>
                    <a:pt x="7066280" y="184023"/>
                  </a:cubicBezTo>
                  <a:lnTo>
                    <a:pt x="7066280" y="4047617"/>
                  </a:lnTo>
                  <a:cubicBezTo>
                    <a:pt x="7066280" y="4149217"/>
                    <a:pt x="6983857" y="4231640"/>
                    <a:pt x="6882257" y="4231640"/>
                  </a:cubicBezTo>
                  <a:lnTo>
                    <a:pt x="184023" y="4231640"/>
                  </a:lnTo>
                  <a:cubicBezTo>
                    <a:pt x="82423" y="4231640"/>
                    <a:pt x="0" y="4149217"/>
                    <a:pt x="0" y="404761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00150" y="2503170"/>
            <a:ext cx="891540" cy="891540"/>
            <a:chOff x="0" y="0"/>
            <a:chExt cx="1188720" cy="118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16050" y="2619070"/>
            <a:ext cx="659740" cy="659740"/>
            <a:chOff x="0" y="0"/>
            <a:chExt cx="879653" cy="879653"/>
          </a:xfrm>
        </p:grpSpPr>
        <p:sp>
          <p:nvSpPr>
            <p:cNvPr name="Freeform 13" id="13" descr="icons/trendingUp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3566160"/>
            <a:ext cx="4594860" cy="548640"/>
            <a:chOff x="0" y="0"/>
            <a:chExt cx="61264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12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Net cash flow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57300" y="4112895"/>
            <a:ext cx="441198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monthly inflow minus outflow — a steady positive gap signals capacity to repay.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74155" y="2185035"/>
            <a:ext cx="5299710" cy="3173730"/>
            <a:chOff x="0" y="0"/>
            <a:chExt cx="7066280" cy="4231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66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6628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6882257" y="0"/>
                  </a:lnTo>
                  <a:cubicBezTo>
                    <a:pt x="6983857" y="0"/>
                    <a:pt x="7066280" y="82423"/>
                    <a:pt x="7066280" y="184023"/>
                  </a:cubicBezTo>
                  <a:lnTo>
                    <a:pt x="7066280" y="4047617"/>
                  </a:lnTo>
                  <a:cubicBezTo>
                    <a:pt x="7066280" y="4149217"/>
                    <a:pt x="6983857" y="4231640"/>
                    <a:pt x="6882257" y="4231640"/>
                  </a:cubicBezTo>
                  <a:lnTo>
                    <a:pt x="184023" y="4231640"/>
                  </a:lnTo>
                  <a:cubicBezTo>
                    <a:pt x="82423" y="4231640"/>
                    <a:pt x="0" y="4149217"/>
                    <a:pt x="0" y="404761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960870" y="2503170"/>
            <a:ext cx="891540" cy="891540"/>
            <a:chOff x="0" y="0"/>
            <a:chExt cx="1188720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076770" y="2619070"/>
            <a:ext cx="659740" cy="659740"/>
            <a:chOff x="0" y="0"/>
            <a:chExt cx="879653" cy="879653"/>
          </a:xfrm>
        </p:grpSpPr>
        <p:sp>
          <p:nvSpPr>
            <p:cNvPr name="Freeform 23" id="23" descr="icons/activity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26580" y="3566160"/>
            <a:ext cx="4594860" cy="548640"/>
            <a:chOff x="0" y="0"/>
            <a:chExt cx="612648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12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Balance volatility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018020" y="4112895"/>
            <a:ext cx="441198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Std. dev. of balance vs. its average — a shaky balance suggests higher near-term risk.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334875" y="2185035"/>
            <a:ext cx="5299710" cy="3173730"/>
            <a:chOff x="0" y="0"/>
            <a:chExt cx="7066280" cy="4231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66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6628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6882257" y="0"/>
                  </a:lnTo>
                  <a:cubicBezTo>
                    <a:pt x="6983857" y="0"/>
                    <a:pt x="7066280" y="82423"/>
                    <a:pt x="7066280" y="184023"/>
                  </a:cubicBezTo>
                  <a:lnTo>
                    <a:pt x="7066280" y="4047617"/>
                  </a:lnTo>
                  <a:cubicBezTo>
                    <a:pt x="7066280" y="4149217"/>
                    <a:pt x="6983857" y="4231640"/>
                    <a:pt x="6882257" y="4231640"/>
                  </a:cubicBezTo>
                  <a:lnTo>
                    <a:pt x="184023" y="4231640"/>
                  </a:lnTo>
                  <a:cubicBezTo>
                    <a:pt x="82423" y="4231640"/>
                    <a:pt x="0" y="4149217"/>
                    <a:pt x="0" y="404761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721590" y="2503170"/>
            <a:ext cx="891540" cy="891540"/>
            <a:chOff x="0" y="0"/>
            <a:chExt cx="1188720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837490" y="2619070"/>
            <a:ext cx="659740" cy="659740"/>
            <a:chOff x="0" y="0"/>
            <a:chExt cx="879653" cy="879653"/>
          </a:xfrm>
        </p:grpSpPr>
        <p:sp>
          <p:nvSpPr>
            <p:cNvPr name="Freeform 33" id="33" descr="icons/clock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87300" y="3566160"/>
            <a:ext cx="4594860" cy="548640"/>
            <a:chOff x="0" y="0"/>
            <a:chExt cx="612648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12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Burn rate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778740" y="4112895"/>
            <a:ext cx="441198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How fast balance drops after it peaks each month (a proxy for “just got paid”) — currency lost per day.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13435" y="5682615"/>
            <a:ext cx="5299710" cy="3308985"/>
            <a:chOff x="0" y="0"/>
            <a:chExt cx="7066280" cy="44119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66280" cy="4411980"/>
            </a:xfrm>
            <a:custGeom>
              <a:avLst/>
              <a:gdLst/>
              <a:ahLst/>
              <a:cxnLst/>
              <a:rect r="r" b="b" t="t" l="l"/>
              <a:pathLst>
                <a:path h="4411980" w="7066280">
                  <a:moveTo>
                    <a:pt x="0" y="191866"/>
                  </a:moveTo>
                  <a:cubicBezTo>
                    <a:pt x="0" y="85936"/>
                    <a:pt x="82423" y="0"/>
                    <a:pt x="184023" y="0"/>
                  </a:cubicBezTo>
                  <a:lnTo>
                    <a:pt x="6882257" y="0"/>
                  </a:lnTo>
                  <a:cubicBezTo>
                    <a:pt x="6983857" y="0"/>
                    <a:pt x="7066280" y="85936"/>
                    <a:pt x="7066280" y="191866"/>
                  </a:cubicBezTo>
                  <a:lnTo>
                    <a:pt x="7066280" y="4220115"/>
                  </a:lnTo>
                  <a:cubicBezTo>
                    <a:pt x="7066280" y="4326044"/>
                    <a:pt x="6983857" y="4411980"/>
                    <a:pt x="6882257" y="4411980"/>
                  </a:cubicBezTo>
                  <a:lnTo>
                    <a:pt x="184023" y="4411980"/>
                  </a:lnTo>
                  <a:cubicBezTo>
                    <a:pt x="82423" y="4411980"/>
                    <a:pt x="0" y="4326044"/>
                    <a:pt x="0" y="422011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00150" y="6000750"/>
            <a:ext cx="891540" cy="891540"/>
            <a:chOff x="0" y="0"/>
            <a:chExt cx="1188720" cy="1188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16050" y="6116650"/>
            <a:ext cx="659740" cy="659740"/>
            <a:chOff x="0" y="0"/>
            <a:chExt cx="879653" cy="879653"/>
          </a:xfrm>
        </p:grpSpPr>
        <p:sp>
          <p:nvSpPr>
            <p:cNvPr name="Freeform 43" id="43" descr="icons/barChart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" b="-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65860" y="7063740"/>
            <a:ext cx="4594860" cy="548640"/>
            <a:chOff x="0" y="0"/>
            <a:chExt cx="612648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12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Low-balance frequency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57300" y="7610475"/>
            <a:ext cx="441198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Count of near-zero balance events — threshold set from the data's own 10th percentile, not a guessed round number.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574155" y="5682615"/>
            <a:ext cx="5299710" cy="3308985"/>
            <a:chOff x="0" y="0"/>
            <a:chExt cx="7066280" cy="44119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66280" cy="4411980"/>
            </a:xfrm>
            <a:custGeom>
              <a:avLst/>
              <a:gdLst/>
              <a:ahLst/>
              <a:cxnLst/>
              <a:rect r="r" b="b" t="t" l="l"/>
              <a:pathLst>
                <a:path h="4411980" w="7066280">
                  <a:moveTo>
                    <a:pt x="0" y="191866"/>
                  </a:moveTo>
                  <a:cubicBezTo>
                    <a:pt x="0" y="85936"/>
                    <a:pt x="82423" y="0"/>
                    <a:pt x="184023" y="0"/>
                  </a:cubicBezTo>
                  <a:lnTo>
                    <a:pt x="6882257" y="0"/>
                  </a:lnTo>
                  <a:cubicBezTo>
                    <a:pt x="6983857" y="0"/>
                    <a:pt x="7066280" y="85936"/>
                    <a:pt x="7066280" y="191866"/>
                  </a:cubicBezTo>
                  <a:lnTo>
                    <a:pt x="7066280" y="4220115"/>
                  </a:lnTo>
                  <a:cubicBezTo>
                    <a:pt x="7066280" y="4326044"/>
                    <a:pt x="6983857" y="4411980"/>
                    <a:pt x="6882257" y="4411980"/>
                  </a:cubicBezTo>
                  <a:lnTo>
                    <a:pt x="184023" y="4411980"/>
                  </a:lnTo>
                  <a:cubicBezTo>
                    <a:pt x="82423" y="4411980"/>
                    <a:pt x="0" y="4326044"/>
                    <a:pt x="0" y="422011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6960870" y="6000750"/>
            <a:ext cx="891540" cy="891540"/>
            <a:chOff x="0" y="0"/>
            <a:chExt cx="1188720" cy="1188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076770" y="6116650"/>
            <a:ext cx="659740" cy="659740"/>
            <a:chOff x="0" y="0"/>
            <a:chExt cx="879653" cy="879653"/>
          </a:xfrm>
        </p:grpSpPr>
        <p:sp>
          <p:nvSpPr>
            <p:cNvPr name="Freeform 53" id="53" descr="icons/briefcase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5" b="-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926580" y="7063740"/>
            <a:ext cx="4594860" cy="548640"/>
            <a:chOff x="0" y="0"/>
            <a:chExt cx="612648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612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Credit capacity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7018020" y="7610475"/>
            <a:ext cx="441198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Largest amount ever successfully taken up, relative to income — a proven, not assumed, borrowing ceiling.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334875" y="5682615"/>
            <a:ext cx="5299710" cy="3308985"/>
            <a:chOff x="0" y="0"/>
            <a:chExt cx="7066280" cy="44119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66280" cy="4411980"/>
            </a:xfrm>
            <a:custGeom>
              <a:avLst/>
              <a:gdLst/>
              <a:ahLst/>
              <a:cxnLst/>
              <a:rect r="r" b="b" t="t" l="l"/>
              <a:pathLst>
                <a:path h="4411980" w="7066280">
                  <a:moveTo>
                    <a:pt x="0" y="191866"/>
                  </a:moveTo>
                  <a:cubicBezTo>
                    <a:pt x="0" y="85936"/>
                    <a:pt x="82423" y="0"/>
                    <a:pt x="184023" y="0"/>
                  </a:cubicBezTo>
                  <a:lnTo>
                    <a:pt x="6882257" y="0"/>
                  </a:lnTo>
                  <a:cubicBezTo>
                    <a:pt x="6983857" y="0"/>
                    <a:pt x="7066280" y="85936"/>
                    <a:pt x="7066280" y="191866"/>
                  </a:cubicBezTo>
                  <a:lnTo>
                    <a:pt x="7066280" y="4220115"/>
                  </a:lnTo>
                  <a:cubicBezTo>
                    <a:pt x="7066280" y="4326044"/>
                    <a:pt x="6983857" y="4411980"/>
                    <a:pt x="6882257" y="4411980"/>
                  </a:cubicBezTo>
                  <a:lnTo>
                    <a:pt x="184023" y="4411980"/>
                  </a:lnTo>
                  <a:cubicBezTo>
                    <a:pt x="82423" y="4411980"/>
                    <a:pt x="0" y="4326044"/>
                    <a:pt x="0" y="422011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721590" y="6000750"/>
            <a:ext cx="891540" cy="891540"/>
            <a:chOff x="0" y="0"/>
            <a:chExt cx="1188720" cy="1188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837490" y="6116650"/>
            <a:ext cx="659740" cy="659740"/>
            <a:chOff x="0" y="0"/>
            <a:chExt cx="879653" cy="879653"/>
          </a:xfrm>
        </p:grpSpPr>
        <p:sp>
          <p:nvSpPr>
            <p:cNvPr name="Freeform 63" id="63" descr="icons/layers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5" b="-5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687300" y="7063740"/>
            <a:ext cx="4594860" cy="548640"/>
            <a:chOff x="0" y="0"/>
            <a:chExt cx="612648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12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Lifecycle segment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778740" y="7610475"/>
            <a:ext cx="441198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Age × income quadrant (tertile cut-offs from the data) — young/low-income vs. mid-age/high-income vs. senior, etc.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Chuene Mosomane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7924318" y="97731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B6472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Freeform 75" id="75"/>
          <p:cNvSpPr/>
          <p:nvPr/>
        </p:nvSpPr>
        <p:spPr>
          <a:xfrm flipH="false" flipV="false" rot="0">
            <a:off x="16630517" y="9710928"/>
            <a:ext cx="1120407" cy="613168"/>
          </a:xfrm>
          <a:custGeom>
            <a:avLst/>
            <a:gdLst/>
            <a:ahLst/>
            <a:cxnLst/>
            <a:rect r="r" b="b" t="t" l="l"/>
            <a:pathLst>
              <a:path h="613168" w="1120407">
                <a:moveTo>
                  <a:pt x="0" y="0"/>
                </a:moveTo>
                <a:lnTo>
                  <a:pt x="1120406" y="0"/>
                </a:lnTo>
                <a:lnTo>
                  <a:pt x="1120406" y="613168"/>
                </a:lnTo>
                <a:lnTo>
                  <a:pt x="0" y="613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4196" y="-1107671"/>
            <a:ext cx="16459200" cy="3303594"/>
            <a:chOff x="0" y="0"/>
            <a:chExt cx="21945600" cy="4404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Dealing with Colinearity !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55628" y="212181"/>
            <a:ext cx="9016650" cy="8141247"/>
          </a:xfrm>
          <a:custGeom>
            <a:avLst/>
            <a:gdLst/>
            <a:ahLst/>
            <a:cxnLst/>
            <a:rect r="r" b="b" t="t" l="l"/>
            <a:pathLst>
              <a:path h="8141247" w="9016650">
                <a:moveTo>
                  <a:pt x="0" y="0"/>
                </a:moveTo>
                <a:lnTo>
                  <a:pt x="9016650" y="0"/>
                </a:lnTo>
                <a:lnTo>
                  <a:pt x="9016650" y="8141247"/>
                </a:lnTo>
                <a:lnTo>
                  <a:pt x="0" y="8141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218" y="2021118"/>
            <a:ext cx="8432579" cy="6617169"/>
          </a:xfrm>
          <a:custGeom>
            <a:avLst/>
            <a:gdLst/>
            <a:ahLst/>
            <a:cxnLst/>
            <a:rect r="r" b="b" t="t" l="l"/>
            <a:pathLst>
              <a:path h="6617169" w="8432579">
                <a:moveTo>
                  <a:pt x="0" y="0"/>
                </a:moveTo>
                <a:lnTo>
                  <a:pt x="8432578" y="0"/>
                </a:lnTo>
                <a:lnTo>
                  <a:pt x="8432578" y="6617168"/>
                </a:lnTo>
                <a:lnTo>
                  <a:pt x="0" y="6617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3005" t="-74320" r="0" b="0"/>
            </a:stretch>
          </a:blipFill>
        </p:spPr>
      </p:sp>
      <p:sp>
        <p:nvSpPr>
          <p:cNvPr name="Freeform 7" id="7"/>
          <p:cNvSpPr/>
          <p:nvPr/>
        </p:nvSpPr>
        <p:spPr>
          <a:xfrm>
            <a:off x="6375862" y="8353428"/>
            <a:ext cx="5634028" cy="1290885"/>
          </a:xfrm>
          <a:custGeom>
            <a:avLst/>
            <a:gdLst/>
            <a:ahLst/>
            <a:cxnLst/>
            <a:rect r="r" b="b" t="t" l="l"/>
            <a:pathLst>
              <a:path h="1290885" w="5634028">
                <a:moveTo>
                  <a:pt x="0" y="581022"/>
                </a:moveTo>
                <a:quadBezTo>
                  <a:pt x="3690501" y="2248148"/>
                  <a:pt x="5634028" y="0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8" id="8"/>
          <p:cNvSpPr txBox="true"/>
          <p:nvPr/>
        </p:nvSpPr>
        <p:spPr>
          <a:xfrm rot="0">
            <a:off x="17563460" y="962631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44254" y="3852132"/>
            <a:ext cx="9296728" cy="5855329"/>
          </a:xfrm>
          <a:custGeom>
            <a:avLst/>
            <a:gdLst/>
            <a:ahLst/>
            <a:cxnLst/>
            <a:rect r="r" b="b" t="t" l="l"/>
            <a:pathLst>
              <a:path h="5855329" w="9296728">
                <a:moveTo>
                  <a:pt x="0" y="0"/>
                </a:moveTo>
                <a:lnTo>
                  <a:pt x="9296728" y="0"/>
                </a:lnTo>
                <a:lnTo>
                  <a:pt x="9296728" y="5855330"/>
                </a:lnTo>
                <a:lnTo>
                  <a:pt x="0" y="5855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7351" y="3761194"/>
            <a:ext cx="7672757" cy="5767269"/>
          </a:xfrm>
          <a:custGeom>
            <a:avLst/>
            <a:gdLst/>
            <a:ahLst/>
            <a:cxnLst/>
            <a:rect r="r" b="b" t="t" l="l"/>
            <a:pathLst>
              <a:path h="5767269" w="7672757">
                <a:moveTo>
                  <a:pt x="0" y="0"/>
                </a:moveTo>
                <a:lnTo>
                  <a:pt x="7672757" y="0"/>
                </a:lnTo>
                <a:lnTo>
                  <a:pt x="7672757" y="5767270"/>
                </a:lnTo>
                <a:lnTo>
                  <a:pt x="0" y="5767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3031" r="-119552" b="-2529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4196" y="-1107671"/>
            <a:ext cx="16459200" cy="3303594"/>
            <a:chOff x="0" y="0"/>
            <a:chExt cx="21945600" cy="4404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often does the balance go to negative status?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640982" y="965983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83798"/>
            <a:ext cx="17703984" cy="6095329"/>
          </a:xfrm>
          <a:custGeom>
            <a:avLst/>
            <a:gdLst/>
            <a:ahLst/>
            <a:cxnLst/>
            <a:rect r="r" b="b" t="t" l="l"/>
            <a:pathLst>
              <a:path h="6095329" w="17703984">
                <a:moveTo>
                  <a:pt x="0" y="0"/>
                </a:moveTo>
                <a:lnTo>
                  <a:pt x="17703984" y="0"/>
                </a:lnTo>
                <a:lnTo>
                  <a:pt x="17703984" y="6095330"/>
                </a:lnTo>
                <a:lnTo>
                  <a:pt x="0" y="6095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710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4196" y="-1107671"/>
            <a:ext cx="16459200" cy="3303594"/>
            <a:chOff x="0" y="0"/>
            <a:chExt cx="21945600" cy="4404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is cash flow and balance volatility?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78382" y="8337426"/>
            <a:ext cx="9288025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50" indent="-280675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Even though our customers have a positive cash flow, the majority of our customers - existing borrower, their balance is more volatile.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03984" y="96678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10059" y="1888385"/>
            <a:ext cx="11234522" cy="7173829"/>
          </a:xfrm>
          <a:custGeom>
            <a:avLst/>
            <a:gdLst/>
            <a:ahLst/>
            <a:cxnLst/>
            <a:rect r="r" b="b" t="t" l="l"/>
            <a:pathLst>
              <a:path h="7173829" w="11234522">
                <a:moveTo>
                  <a:pt x="0" y="0"/>
                </a:moveTo>
                <a:lnTo>
                  <a:pt x="11234522" y="0"/>
                </a:lnTo>
                <a:lnTo>
                  <a:pt x="11234522" y="7173829"/>
                </a:lnTo>
                <a:lnTo>
                  <a:pt x="0" y="7173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267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4196" y="-1107671"/>
            <a:ext cx="16459200" cy="3303594"/>
            <a:chOff x="0" y="0"/>
            <a:chExt cx="21945600" cy="4404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is the burn rate of our customers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550245" y="946005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019" y="2694675"/>
            <a:ext cx="10264432" cy="6873893"/>
          </a:xfrm>
          <a:custGeom>
            <a:avLst/>
            <a:gdLst/>
            <a:ahLst/>
            <a:cxnLst/>
            <a:rect r="r" b="b" t="t" l="l"/>
            <a:pathLst>
              <a:path h="6873893" w="10264432">
                <a:moveTo>
                  <a:pt x="0" y="0"/>
                </a:moveTo>
                <a:lnTo>
                  <a:pt x="10264432" y="0"/>
                </a:lnTo>
                <a:lnTo>
                  <a:pt x="10264432" y="6873892"/>
                </a:lnTo>
                <a:lnTo>
                  <a:pt x="0" y="6873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226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87382" y="6267569"/>
            <a:ext cx="5089760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501" indent="-315751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Now we know enough about our customers and we procceed to segment them into risk using KPI’s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24196" y="-1107671"/>
            <a:ext cx="16459200" cy="3303594"/>
            <a:chOff x="0" y="0"/>
            <a:chExt cx="21945600" cy="4404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Customer Segmentation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577142" y="952094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2810" y="1445343"/>
            <a:ext cx="14202379" cy="8148032"/>
          </a:xfrm>
          <a:custGeom>
            <a:avLst/>
            <a:gdLst/>
            <a:ahLst/>
            <a:cxnLst/>
            <a:rect r="r" b="b" t="t" l="l"/>
            <a:pathLst>
              <a:path h="8148032" w="14202379">
                <a:moveTo>
                  <a:pt x="0" y="0"/>
                </a:moveTo>
                <a:lnTo>
                  <a:pt x="14202380" y="0"/>
                </a:lnTo>
                <a:lnTo>
                  <a:pt x="14202380" y="8148032"/>
                </a:lnTo>
                <a:lnTo>
                  <a:pt x="0" y="8148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4196" y="-1107671"/>
            <a:ext cx="16459200" cy="3303594"/>
            <a:chOff x="0" y="0"/>
            <a:chExt cx="21945600" cy="4404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Feature Selection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737282" y="954575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MODELLING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172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 &amp; evaluation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9464040" cy="7063740"/>
            <a:chOff x="0" y="0"/>
            <a:chExt cx="12618720" cy="9418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1872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26187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435840" y="0"/>
                  </a:lnTo>
                  <a:cubicBezTo>
                    <a:pt x="12536805" y="0"/>
                    <a:pt x="12618720" y="81915"/>
                    <a:pt x="12618720" y="182880"/>
                  </a:cubicBezTo>
                  <a:lnTo>
                    <a:pt x="12618720" y="9235440"/>
                  </a:lnTo>
                  <a:cubicBezTo>
                    <a:pt x="12618720" y="9336405"/>
                    <a:pt x="12536805" y="9418320"/>
                    <a:pt x="12435840" y="9418320"/>
                  </a:cubicBezTo>
                  <a:lnTo>
                    <a:pt x="182880" y="9418320"/>
                  </a:lnTo>
                  <a:cubicBezTo>
                    <a:pt x="81915" y="9418320"/>
                    <a:pt x="0" y="9336405"/>
                    <a:pt x="0" y="9235440"/>
                  </a:cubicBez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468880"/>
            <a:ext cx="8503920" cy="548640"/>
            <a:chOff x="0" y="0"/>
            <a:chExt cx="1133856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1338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Methodology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3223260"/>
            <a:ext cx="2468880" cy="1165860"/>
            <a:chOff x="0" y="0"/>
            <a:chExt cx="329184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918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87" t="0" r="-1058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29184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Algorithm: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863340" y="3221355"/>
            <a:ext cx="60579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Regression — interpretable coefficients matter more and therefore we choose it as a baseline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03020" y="4594860"/>
            <a:ext cx="2468880" cy="1165860"/>
            <a:chOff x="0" y="0"/>
            <a:chExt cx="3291840" cy="1554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918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87" t="0" r="-1058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29184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imbalance: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863340" y="4592955"/>
            <a:ext cx="60579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Inverse-frequency row weighting (Spark ML's equivalent of scikit-learn's class_weight='balanced')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03020" y="5966460"/>
            <a:ext cx="2468880" cy="1165860"/>
            <a:chOff x="0" y="0"/>
            <a:chExt cx="3291840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918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87" t="0" r="-1058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29184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Split: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863340" y="5964555"/>
            <a:ext cx="60579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Stratified 80/20 train/test, split independently per class to preserve the outcome ratio in both halves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03020" y="7338060"/>
            <a:ext cx="2468880" cy="1165860"/>
            <a:chOff x="0" y="0"/>
            <a:chExt cx="3291840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18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87" t="0" r="-1058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29184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Grain: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749040" y="7873365"/>
            <a:ext cx="60579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One row per historical loan application — not per customer 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767060" y="2125980"/>
            <a:ext cx="6652260" cy="548640"/>
            <a:chOff x="0" y="0"/>
            <a:chExt cx="886968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88696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Headline results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755154" y="2868454"/>
            <a:ext cx="6676072" cy="1669733"/>
            <a:chOff x="0" y="0"/>
            <a:chExt cx="8901430" cy="22263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01430" cy="2226310"/>
            </a:xfrm>
            <a:custGeom>
              <a:avLst/>
              <a:gdLst/>
              <a:ahLst/>
              <a:cxnLst/>
              <a:rect r="r" b="b" t="t" l="l"/>
              <a:pathLst>
                <a:path h="2226310" w="890143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8752967" y="0"/>
                  </a:lnTo>
                  <a:cubicBezTo>
                    <a:pt x="8834882" y="0"/>
                    <a:pt x="8901430" y="66421"/>
                    <a:pt x="8901430" y="148463"/>
                  </a:cubicBezTo>
                  <a:lnTo>
                    <a:pt x="8901430" y="2077847"/>
                  </a:lnTo>
                  <a:cubicBezTo>
                    <a:pt x="8901430" y="2159762"/>
                    <a:pt x="8835010" y="2226310"/>
                    <a:pt x="8752967" y="2226310"/>
                  </a:cubicBezTo>
                  <a:lnTo>
                    <a:pt x="148463" y="2226310"/>
                  </a:lnTo>
                  <a:cubicBezTo>
                    <a:pt x="66421" y="2226310"/>
                    <a:pt x="0" y="2159889"/>
                    <a:pt x="0" y="2077847"/>
                  </a:cubicBezTo>
                  <a:close/>
                </a:path>
              </a:pathLst>
            </a:custGeom>
            <a:solidFill>
              <a:srgbClr val="F7F9FC"/>
            </a:solidFill>
            <a:ln w="23812" cap="sq">
              <a:solidFill>
                <a:srgbClr val="C24914"/>
              </a:solidFill>
              <a:prstDash val="dash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972800" y="3675888"/>
            <a:ext cx="6240780" cy="419086"/>
            <a:chOff x="0" y="0"/>
            <a:chExt cx="8321040" cy="55878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21040" cy="558781"/>
            </a:xfrm>
            <a:custGeom>
              <a:avLst/>
              <a:gdLst/>
              <a:ahLst/>
              <a:cxnLst/>
              <a:rect r="r" b="b" t="t" l="l"/>
              <a:pathLst>
                <a:path h="558781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558781"/>
                  </a:lnTo>
                  <a:lnTo>
                    <a:pt x="0" y="5587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067" r="0" b="-23925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8321040" cy="606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2124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ROC-AUC (test set)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755154" y="4857274"/>
            <a:ext cx="6676072" cy="1669733"/>
            <a:chOff x="0" y="0"/>
            <a:chExt cx="8901430" cy="22263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01430" cy="2226310"/>
            </a:xfrm>
            <a:custGeom>
              <a:avLst/>
              <a:gdLst/>
              <a:ahLst/>
              <a:cxnLst/>
              <a:rect r="r" b="b" t="t" l="l"/>
              <a:pathLst>
                <a:path h="2226310" w="890143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8752967" y="0"/>
                  </a:lnTo>
                  <a:cubicBezTo>
                    <a:pt x="8834882" y="0"/>
                    <a:pt x="8901430" y="66421"/>
                    <a:pt x="8901430" y="148463"/>
                  </a:cubicBezTo>
                  <a:lnTo>
                    <a:pt x="8901430" y="2077847"/>
                  </a:lnTo>
                  <a:cubicBezTo>
                    <a:pt x="8901430" y="2159762"/>
                    <a:pt x="8835010" y="2226310"/>
                    <a:pt x="8752967" y="2226310"/>
                  </a:cubicBezTo>
                  <a:lnTo>
                    <a:pt x="148463" y="2226310"/>
                  </a:lnTo>
                  <a:cubicBezTo>
                    <a:pt x="66421" y="2226310"/>
                    <a:pt x="0" y="2159889"/>
                    <a:pt x="0" y="2077847"/>
                  </a:cubicBezTo>
                  <a:close/>
                </a:path>
              </a:pathLst>
            </a:custGeom>
            <a:solidFill>
              <a:srgbClr val="F7F9FC"/>
            </a:solidFill>
            <a:ln w="23812" cap="sq">
              <a:solidFill>
                <a:srgbClr val="C24914"/>
              </a:solidFill>
              <a:prstDash val="dash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972800" y="5664708"/>
            <a:ext cx="6240780" cy="411480"/>
            <a:chOff x="0" y="0"/>
            <a:chExt cx="832104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321040" cy="548640"/>
            </a:xfrm>
            <a:custGeom>
              <a:avLst/>
              <a:gdLst/>
              <a:ahLst/>
              <a:cxnLst/>
              <a:rect r="r" b="b" t="t" l="l"/>
              <a:pathLst>
                <a:path h="54864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3210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2024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AUC without GENDER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755154" y="6846094"/>
            <a:ext cx="6676072" cy="1669733"/>
            <a:chOff x="0" y="0"/>
            <a:chExt cx="8901430" cy="22263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01430" cy="2226310"/>
            </a:xfrm>
            <a:custGeom>
              <a:avLst/>
              <a:gdLst/>
              <a:ahLst/>
              <a:cxnLst/>
              <a:rect r="r" b="b" t="t" l="l"/>
              <a:pathLst>
                <a:path h="2226310" w="890143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8752967" y="0"/>
                  </a:lnTo>
                  <a:cubicBezTo>
                    <a:pt x="8834882" y="0"/>
                    <a:pt x="8901430" y="66421"/>
                    <a:pt x="8901430" y="148463"/>
                  </a:cubicBezTo>
                  <a:lnTo>
                    <a:pt x="8901430" y="2077847"/>
                  </a:lnTo>
                  <a:cubicBezTo>
                    <a:pt x="8901430" y="2159762"/>
                    <a:pt x="8835010" y="2226310"/>
                    <a:pt x="8752967" y="2226310"/>
                  </a:cubicBezTo>
                  <a:lnTo>
                    <a:pt x="148463" y="2226310"/>
                  </a:lnTo>
                  <a:cubicBezTo>
                    <a:pt x="66421" y="2226310"/>
                    <a:pt x="0" y="2159889"/>
                    <a:pt x="0" y="2077847"/>
                  </a:cubicBezTo>
                  <a:close/>
                </a:path>
              </a:pathLst>
            </a:custGeom>
            <a:solidFill>
              <a:srgbClr val="F7F9FC"/>
            </a:solidFill>
            <a:ln w="23812" cap="sq">
              <a:solidFill>
                <a:srgbClr val="C24914"/>
              </a:solidFill>
              <a:prstDash val="dash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972800" y="7653528"/>
            <a:ext cx="6240780" cy="411480"/>
            <a:chOff x="0" y="0"/>
            <a:chExt cx="832104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321040" cy="548640"/>
            </a:xfrm>
            <a:custGeom>
              <a:avLst/>
              <a:gdLst/>
              <a:ahLst/>
              <a:cxnLst/>
              <a:rect r="r" b="b" t="t" l="l"/>
              <a:pathLst>
                <a:path h="54864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3210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2024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/ test size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Chuene Mosomane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7841191" y="97731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B6472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827124" y="3184715"/>
            <a:ext cx="18823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5B64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90%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827124" y="5223827"/>
            <a:ext cx="19249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5B64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86%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827124" y="7177913"/>
            <a:ext cx="19249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5B64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85/15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6477221" y="9750425"/>
            <a:ext cx="1120407" cy="613168"/>
          </a:xfrm>
          <a:custGeom>
            <a:avLst/>
            <a:gdLst/>
            <a:ahLst/>
            <a:cxnLst/>
            <a:rect r="r" b="b" t="t" l="l"/>
            <a:pathLst>
              <a:path h="613168" w="1120407">
                <a:moveTo>
                  <a:pt x="0" y="0"/>
                </a:moveTo>
                <a:lnTo>
                  <a:pt x="1120407" y="0"/>
                </a:lnTo>
                <a:lnTo>
                  <a:pt x="1120407" y="613168"/>
                </a:lnTo>
                <a:lnTo>
                  <a:pt x="0" y="613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3547" y="3090418"/>
            <a:ext cx="15191236" cy="6338534"/>
          </a:xfrm>
          <a:custGeom>
            <a:avLst/>
            <a:gdLst/>
            <a:ahLst/>
            <a:cxnLst/>
            <a:rect r="r" b="b" t="t" l="l"/>
            <a:pathLst>
              <a:path h="6338534" w="15191236">
                <a:moveTo>
                  <a:pt x="0" y="0"/>
                </a:moveTo>
                <a:lnTo>
                  <a:pt x="15191236" y="0"/>
                </a:lnTo>
                <a:lnTo>
                  <a:pt x="15191236" y="6338535"/>
                </a:lnTo>
                <a:lnTo>
                  <a:pt x="0" y="6338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4196" y="-1107671"/>
            <a:ext cx="16459200" cy="3303594"/>
            <a:chOff x="0" y="0"/>
            <a:chExt cx="21945600" cy="4404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596" y="-955271"/>
            <a:ext cx="16459200" cy="3303594"/>
            <a:chOff x="0" y="0"/>
            <a:chExt cx="21945600" cy="44047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 Results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737282" y="964709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31422" y="1899869"/>
            <a:ext cx="9392080" cy="7660056"/>
          </a:xfrm>
          <a:custGeom>
            <a:avLst/>
            <a:gdLst/>
            <a:ahLst/>
            <a:cxnLst/>
            <a:rect r="r" b="b" t="t" l="l"/>
            <a:pathLst>
              <a:path h="7660056" w="9392080">
                <a:moveTo>
                  <a:pt x="0" y="0"/>
                </a:moveTo>
                <a:lnTo>
                  <a:pt x="9392080" y="0"/>
                </a:lnTo>
                <a:lnTo>
                  <a:pt x="9392080" y="7660056"/>
                </a:lnTo>
                <a:lnTo>
                  <a:pt x="0" y="7660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2477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33373" y="9521825"/>
            <a:ext cx="287786" cy="33882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791"/>
              </a:lnSpc>
              <a:spcBef>
                <a:spcPct val="0"/>
              </a:spcBef>
            </a:pPr>
            <a:r>
              <a:rPr lang="en-US" sz="19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76596" y="-955271"/>
            <a:ext cx="16459200" cy="3303594"/>
            <a:chOff x="0" y="0"/>
            <a:chExt cx="21945600" cy="4404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often are we correct?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75247" y="0"/>
            <a:ext cx="8139001" cy="5343675"/>
          </a:xfrm>
          <a:custGeom>
            <a:avLst/>
            <a:gdLst/>
            <a:ahLst/>
            <a:cxnLst/>
            <a:rect r="r" b="b" t="t" l="l"/>
            <a:pathLst>
              <a:path h="5343675" w="8139001">
                <a:moveTo>
                  <a:pt x="0" y="0"/>
                </a:moveTo>
                <a:lnTo>
                  <a:pt x="8139001" y="0"/>
                </a:lnTo>
                <a:lnTo>
                  <a:pt x="8139001" y="5343675"/>
                </a:lnTo>
                <a:lnTo>
                  <a:pt x="0" y="5343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1068" y="5400162"/>
            <a:ext cx="11911669" cy="4886838"/>
          </a:xfrm>
          <a:custGeom>
            <a:avLst/>
            <a:gdLst/>
            <a:ahLst/>
            <a:cxnLst/>
            <a:rect r="r" b="b" t="t" l="l"/>
            <a:pathLst>
              <a:path h="4886838" w="11911669">
                <a:moveTo>
                  <a:pt x="0" y="0"/>
                </a:moveTo>
                <a:lnTo>
                  <a:pt x="11911668" y="0"/>
                </a:lnTo>
                <a:lnTo>
                  <a:pt x="11911668" y="4886838"/>
                </a:lnTo>
                <a:lnTo>
                  <a:pt x="0" y="4886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52255" y="2652788"/>
            <a:ext cx="5208337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2812" indent="-281406" lvl="1">
              <a:lnSpc>
                <a:spcPts val="3128"/>
              </a:lnSpc>
              <a:spcBef>
                <a:spcPct val="0"/>
              </a:spcBef>
              <a:buFont typeface="Arial"/>
              <a:buChar char="•"/>
            </a:pPr>
            <a:r>
              <a:rPr lang="en-US" sz="2606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Our model have identified 1152 customers  who we can approach with a loan and have high chance of accepting.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77982" y="-777229"/>
            <a:ext cx="16459200" cy="3303594"/>
            <a:chOff x="0" y="0"/>
            <a:chExt cx="21945600" cy="4404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Identified List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722024" y="968108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629359"/>
            <a:ext cx="15110209" cy="5657641"/>
          </a:xfrm>
          <a:custGeom>
            <a:avLst/>
            <a:gdLst/>
            <a:ahLst/>
            <a:cxnLst/>
            <a:rect r="r" b="b" t="t" l="l"/>
            <a:pathLst>
              <a:path h="5657641" w="15110209">
                <a:moveTo>
                  <a:pt x="0" y="0"/>
                </a:moveTo>
                <a:lnTo>
                  <a:pt x="15110209" y="0"/>
                </a:lnTo>
                <a:lnTo>
                  <a:pt x="15110209" y="5657641"/>
                </a:lnTo>
                <a:lnTo>
                  <a:pt x="0" y="5657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3888" y="-795944"/>
            <a:ext cx="16459200" cy="3303594"/>
            <a:chOff x="0" y="0"/>
            <a:chExt cx="21945600" cy="4404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Is there Bias in the Data?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654155" y="962631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-623097"/>
            <a:ext cx="16459200" cy="3303594"/>
            <a:chOff x="0" y="0"/>
            <a:chExt cx="21945600" cy="4404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47" r="0" b="-1161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Fairness Report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253615"/>
            <a:ext cx="8042910" cy="1630507"/>
            <a:chOff x="0" y="0"/>
            <a:chExt cx="10723880" cy="21740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3880" cy="2174009"/>
            </a:xfrm>
            <a:custGeom>
              <a:avLst/>
              <a:gdLst/>
              <a:ahLst/>
              <a:cxnLst/>
              <a:rect r="r" b="b" t="t" l="l"/>
              <a:pathLst>
                <a:path h="2174009" w="10723880">
                  <a:moveTo>
                    <a:pt x="0" y="43918"/>
                  </a:moveTo>
                  <a:cubicBezTo>
                    <a:pt x="0" y="19648"/>
                    <a:pt x="82042" y="0"/>
                    <a:pt x="183388" y="0"/>
                  </a:cubicBezTo>
                  <a:lnTo>
                    <a:pt x="10540492" y="0"/>
                  </a:lnTo>
                  <a:cubicBezTo>
                    <a:pt x="10641711" y="0"/>
                    <a:pt x="10723880" y="19648"/>
                    <a:pt x="10723880" y="43918"/>
                  </a:cubicBezTo>
                  <a:lnTo>
                    <a:pt x="10723880" y="2130091"/>
                  </a:lnTo>
                  <a:cubicBezTo>
                    <a:pt x="10723880" y="2154331"/>
                    <a:pt x="10641838" y="2174009"/>
                    <a:pt x="10540492" y="2174009"/>
                  </a:cubicBezTo>
                  <a:lnTo>
                    <a:pt x="183388" y="2174009"/>
                  </a:lnTo>
                  <a:cubicBezTo>
                    <a:pt x="82042" y="2174009"/>
                    <a:pt x="0" y="2154362"/>
                    <a:pt x="0" y="213009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37310" y="2571750"/>
            <a:ext cx="891540" cy="891540"/>
            <a:chOff x="0" y="0"/>
            <a:chExt cx="1188720" cy="1188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53210" y="2687650"/>
            <a:ext cx="659740" cy="659740"/>
            <a:chOff x="0" y="0"/>
            <a:chExt cx="879653" cy="879653"/>
          </a:xfrm>
        </p:grpSpPr>
        <p:sp>
          <p:nvSpPr>
            <p:cNvPr name="Freeform 10" id="10" descr="icons/scale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537460" y="2702052"/>
            <a:ext cx="5760720" cy="617220"/>
            <a:chOff x="0" y="0"/>
            <a:chExt cx="7680960" cy="822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80960" cy="822960"/>
            </a:xfrm>
            <a:custGeom>
              <a:avLst/>
              <a:gdLst/>
              <a:ahLst/>
              <a:cxnLst/>
              <a:rect r="r" b="b" t="t" l="l"/>
              <a:pathLst>
                <a:path h="8229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76809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1. Disparate impact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48775" y="2253615"/>
            <a:ext cx="8042910" cy="1630507"/>
            <a:chOff x="0" y="0"/>
            <a:chExt cx="10723880" cy="21740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23880" cy="2174009"/>
            </a:xfrm>
            <a:custGeom>
              <a:avLst/>
              <a:gdLst/>
              <a:ahLst/>
              <a:cxnLst/>
              <a:rect r="r" b="b" t="t" l="l"/>
              <a:pathLst>
                <a:path h="2174009" w="10723880">
                  <a:moveTo>
                    <a:pt x="0" y="43918"/>
                  </a:moveTo>
                  <a:cubicBezTo>
                    <a:pt x="0" y="19648"/>
                    <a:pt x="82042" y="0"/>
                    <a:pt x="183388" y="0"/>
                  </a:cubicBezTo>
                  <a:lnTo>
                    <a:pt x="10540492" y="0"/>
                  </a:lnTo>
                  <a:cubicBezTo>
                    <a:pt x="10641711" y="0"/>
                    <a:pt x="10723880" y="19648"/>
                    <a:pt x="10723880" y="43918"/>
                  </a:cubicBezTo>
                  <a:lnTo>
                    <a:pt x="10723880" y="2130091"/>
                  </a:lnTo>
                  <a:cubicBezTo>
                    <a:pt x="10723880" y="2154331"/>
                    <a:pt x="10641838" y="2174009"/>
                    <a:pt x="10540492" y="2174009"/>
                  </a:cubicBezTo>
                  <a:lnTo>
                    <a:pt x="183388" y="2174009"/>
                  </a:lnTo>
                  <a:cubicBezTo>
                    <a:pt x="82042" y="2174009"/>
                    <a:pt x="0" y="2154362"/>
                    <a:pt x="0" y="213009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772650" y="2571750"/>
            <a:ext cx="891540" cy="891540"/>
            <a:chOff x="0" y="0"/>
            <a:chExt cx="1188720" cy="1188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88550" y="2687650"/>
            <a:ext cx="659740" cy="659740"/>
            <a:chOff x="0" y="0"/>
            <a:chExt cx="879653" cy="879653"/>
          </a:xfrm>
        </p:grpSpPr>
        <p:sp>
          <p:nvSpPr>
            <p:cNvPr name="Freeform 19" id="19" descr="icons/helpCircle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0" y="2702052"/>
            <a:ext cx="5760720" cy="617220"/>
            <a:chOff x="0" y="0"/>
            <a:chExt cx="7680960" cy="822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80960" cy="822960"/>
            </a:xfrm>
            <a:custGeom>
              <a:avLst/>
              <a:gdLst/>
              <a:ahLst/>
              <a:cxnLst/>
              <a:rect r="r" b="b" t="t" l="l"/>
              <a:pathLst>
                <a:path h="8229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76809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2. Does gender earn its place?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Chuene Mosomane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3174979" y="6473473"/>
            <a:ext cx="11046503" cy="34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002" indent="-304001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'Gen</a:t>
            </a:r>
            <a:r>
              <a:rPr lang="en-US" sz="28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der’ adds little to no measurable predictive power here;</a:t>
            </a:r>
          </a:p>
          <a:p>
            <a:pPr algn="l" marL="1216005" indent="-405335" lvl="2">
              <a:lnSpc>
                <a:spcPts val="3942"/>
              </a:lnSpc>
              <a:buFont typeface="Arial"/>
              <a:buChar char="⚬"/>
            </a:pPr>
            <a:r>
              <a:rPr lang="en-US" sz="28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excluding it from the live model costs little and removes a protected characteristic.</a:t>
            </a:r>
          </a:p>
          <a:p>
            <a:pPr algn="ctr">
              <a:lnSpc>
                <a:spcPts val="3942"/>
              </a:lnSpc>
            </a:pPr>
          </a:p>
          <a:p>
            <a:pPr algn="ctr">
              <a:lnSpc>
                <a:spcPts val="3942"/>
              </a:lnSpc>
            </a:pPr>
          </a:p>
          <a:p>
            <a:pPr algn="ctr">
              <a:lnSpc>
                <a:spcPts val="3942"/>
              </a:lnSpc>
            </a:pPr>
          </a:p>
          <a:p>
            <a:pPr algn="ctr">
              <a:lnSpc>
                <a:spcPts val="3942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3174979" y="4629150"/>
            <a:ext cx="726683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disparate_impact_ratio_gender: 0.35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820409" y="97731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21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6477221" y="9710928"/>
            <a:ext cx="1120407" cy="613168"/>
          </a:xfrm>
          <a:custGeom>
            <a:avLst/>
            <a:gdLst/>
            <a:ahLst/>
            <a:cxnLst/>
            <a:rect r="r" b="b" t="t" l="l"/>
            <a:pathLst>
              <a:path h="613168" w="1120407">
                <a:moveTo>
                  <a:pt x="0" y="0"/>
                </a:moveTo>
                <a:lnTo>
                  <a:pt x="1120407" y="0"/>
                </a:lnTo>
                <a:lnTo>
                  <a:pt x="1120407" y="613168"/>
                </a:lnTo>
                <a:lnTo>
                  <a:pt x="0" y="613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172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this runs end to 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1054" y="3142774"/>
            <a:ext cx="2561272" cy="2149792"/>
            <a:chOff x="0" y="0"/>
            <a:chExt cx="3415030" cy="28663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5030" cy="2866390"/>
            </a:xfrm>
            <a:custGeom>
              <a:avLst/>
              <a:gdLst/>
              <a:ahLst/>
              <a:cxnLst/>
              <a:rect r="r" b="b" t="t" l="l"/>
              <a:pathLst>
                <a:path h="2866390" w="341503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230118" y="0"/>
                  </a:lnTo>
                  <a:cubicBezTo>
                    <a:pt x="3332226" y="0"/>
                    <a:pt x="3415030" y="82804"/>
                    <a:pt x="3415030" y="184912"/>
                  </a:cubicBezTo>
                  <a:lnTo>
                    <a:pt x="3415030" y="2681478"/>
                  </a:lnTo>
                  <a:cubicBezTo>
                    <a:pt x="3415030" y="2783586"/>
                    <a:pt x="3332226" y="2866390"/>
                    <a:pt x="3230118" y="2866390"/>
                  </a:cubicBezTo>
                  <a:lnTo>
                    <a:pt x="184912" y="2866390"/>
                  </a:lnTo>
                  <a:cubicBezTo>
                    <a:pt x="82804" y="2866390"/>
                    <a:pt x="0" y="2783586"/>
                    <a:pt x="0" y="2681478"/>
                  </a:cubicBezTo>
                  <a:close/>
                </a:path>
              </a:pathLst>
            </a:custGeom>
            <a:solidFill>
              <a:srgbClr val="F7F9FC"/>
            </a:solidFill>
            <a:ln w="23812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714500" y="3353562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12569" y="3451631"/>
            <a:ext cx="558241" cy="558241"/>
            <a:chOff x="0" y="0"/>
            <a:chExt cx="744322" cy="744322"/>
          </a:xfrm>
        </p:grpSpPr>
        <p:sp>
          <p:nvSpPr>
            <p:cNvPr name="Freeform 13" id="13" descr="icons/database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2688" y="4224528"/>
            <a:ext cx="2318004" cy="411480"/>
            <a:chOff x="0" y="0"/>
            <a:chExt cx="3090672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90672" cy="548640"/>
            </a:xfrm>
            <a:custGeom>
              <a:avLst/>
              <a:gdLst/>
              <a:ahLst/>
              <a:cxnLst/>
              <a:rect r="r" b="b" t="t" l="l"/>
              <a:pathLst>
                <a:path h="548640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65" r="0" b="-597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09067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Raw data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60420" y="3833622"/>
            <a:ext cx="282550" cy="768096"/>
            <a:chOff x="0" y="0"/>
            <a:chExt cx="376733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67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6732">
                  <a:moveTo>
                    <a:pt x="0" y="0"/>
                  </a:moveTo>
                  <a:lnTo>
                    <a:pt x="376732" y="0"/>
                  </a:lnTo>
                  <a:lnTo>
                    <a:pt x="3767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787" t="0" r="-29878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376733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31063" y="3142774"/>
            <a:ext cx="2561272" cy="2149792"/>
            <a:chOff x="0" y="0"/>
            <a:chExt cx="3415030" cy="28663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15030" cy="2866390"/>
            </a:xfrm>
            <a:custGeom>
              <a:avLst/>
              <a:gdLst/>
              <a:ahLst/>
              <a:cxnLst/>
              <a:rect r="r" b="b" t="t" l="l"/>
              <a:pathLst>
                <a:path h="2866390" w="341503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230118" y="0"/>
                  </a:lnTo>
                  <a:cubicBezTo>
                    <a:pt x="3332226" y="0"/>
                    <a:pt x="3415030" y="82804"/>
                    <a:pt x="3415030" y="184912"/>
                  </a:cubicBezTo>
                  <a:lnTo>
                    <a:pt x="3415030" y="2681478"/>
                  </a:lnTo>
                  <a:cubicBezTo>
                    <a:pt x="3415030" y="2783586"/>
                    <a:pt x="3332226" y="2866390"/>
                    <a:pt x="3230118" y="2866390"/>
                  </a:cubicBezTo>
                  <a:lnTo>
                    <a:pt x="184912" y="2866390"/>
                  </a:lnTo>
                  <a:cubicBezTo>
                    <a:pt x="82804" y="2866390"/>
                    <a:pt x="0" y="2783586"/>
                    <a:pt x="0" y="2681478"/>
                  </a:cubicBezTo>
                  <a:close/>
                </a:path>
              </a:pathLst>
            </a:custGeom>
            <a:solidFill>
              <a:srgbClr val="F7F9FC"/>
            </a:solidFill>
            <a:ln w="23812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534510" y="3353562"/>
            <a:ext cx="754380" cy="754380"/>
            <a:chOff x="0" y="0"/>
            <a:chExt cx="100584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632579" y="3451631"/>
            <a:ext cx="558241" cy="558241"/>
            <a:chOff x="0" y="0"/>
            <a:chExt cx="744322" cy="744322"/>
          </a:xfrm>
        </p:grpSpPr>
        <p:sp>
          <p:nvSpPr>
            <p:cNvPr name="Freeform 25" id="25" descr="icons/search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752698" y="4224528"/>
            <a:ext cx="2318004" cy="411480"/>
            <a:chOff x="0" y="0"/>
            <a:chExt cx="3090672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90672" cy="548640"/>
            </a:xfrm>
            <a:custGeom>
              <a:avLst/>
              <a:gdLst/>
              <a:ahLst/>
              <a:cxnLst/>
              <a:rect r="r" b="b" t="t" l="l"/>
              <a:pathLst>
                <a:path h="548640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65" r="0" b="-5976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09067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Clean + EDA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80430" y="3833622"/>
            <a:ext cx="282550" cy="768096"/>
            <a:chOff x="0" y="0"/>
            <a:chExt cx="376733" cy="10241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67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6732">
                  <a:moveTo>
                    <a:pt x="0" y="0"/>
                  </a:moveTo>
                  <a:lnTo>
                    <a:pt x="376732" y="0"/>
                  </a:lnTo>
                  <a:lnTo>
                    <a:pt x="3767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787" t="0" r="-29878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376733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51073" y="3142774"/>
            <a:ext cx="2561272" cy="2149792"/>
            <a:chOff x="0" y="0"/>
            <a:chExt cx="3415030" cy="28663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15030" cy="2866390"/>
            </a:xfrm>
            <a:custGeom>
              <a:avLst/>
              <a:gdLst/>
              <a:ahLst/>
              <a:cxnLst/>
              <a:rect r="r" b="b" t="t" l="l"/>
              <a:pathLst>
                <a:path h="2866390" w="341503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230118" y="0"/>
                  </a:lnTo>
                  <a:cubicBezTo>
                    <a:pt x="3332226" y="0"/>
                    <a:pt x="3415030" y="82804"/>
                    <a:pt x="3415030" y="184912"/>
                  </a:cubicBezTo>
                  <a:lnTo>
                    <a:pt x="3415030" y="2681478"/>
                  </a:lnTo>
                  <a:cubicBezTo>
                    <a:pt x="3415030" y="2783586"/>
                    <a:pt x="3332226" y="2866390"/>
                    <a:pt x="3230118" y="2866390"/>
                  </a:cubicBezTo>
                  <a:lnTo>
                    <a:pt x="184912" y="2866390"/>
                  </a:lnTo>
                  <a:cubicBezTo>
                    <a:pt x="82804" y="2866390"/>
                    <a:pt x="0" y="2783586"/>
                    <a:pt x="0" y="2681478"/>
                  </a:cubicBezTo>
                  <a:close/>
                </a:path>
              </a:pathLst>
            </a:custGeom>
            <a:solidFill>
              <a:srgbClr val="F7F9FC"/>
            </a:solidFill>
            <a:ln w="23812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354519" y="3353562"/>
            <a:ext cx="754380" cy="754380"/>
            <a:chOff x="0" y="0"/>
            <a:chExt cx="100584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452589" y="3451631"/>
            <a:ext cx="558241" cy="558241"/>
            <a:chOff x="0" y="0"/>
            <a:chExt cx="744322" cy="744322"/>
          </a:xfrm>
        </p:grpSpPr>
        <p:sp>
          <p:nvSpPr>
            <p:cNvPr name="Freeform 37" id="37" descr="icons/layers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572707" y="4224528"/>
            <a:ext cx="2318004" cy="411480"/>
            <a:chOff x="0" y="0"/>
            <a:chExt cx="3090672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90672" cy="548640"/>
            </a:xfrm>
            <a:custGeom>
              <a:avLst/>
              <a:gdLst/>
              <a:ahLst/>
              <a:cxnLst/>
              <a:rect r="r" b="b" t="t" l="l"/>
              <a:pathLst>
                <a:path h="548640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65" r="0" b="-5976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09067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Feature engineering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000439" y="3833622"/>
            <a:ext cx="282550" cy="768096"/>
            <a:chOff x="0" y="0"/>
            <a:chExt cx="376733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767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6732">
                  <a:moveTo>
                    <a:pt x="0" y="0"/>
                  </a:moveTo>
                  <a:lnTo>
                    <a:pt x="376732" y="0"/>
                  </a:lnTo>
                  <a:lnTo>
                    <a:pt x="3767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787" t="0" r="-29878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376733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71083" y="3142774"/>
            <a:ext cx="2561272" cy="2149792"/>
            <a:chOff x="0" y="0"/>
            <a:chExt cx="3415030" cy="28663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15030" cy="2866390"/>
            </a:xfrm>
            <a:custGeom>
              <a:avLst/>
              <a:gdLst/>
              <a:ahLst/>
              <a:cxnLst/>
              <a:rect r="r" b="b" t="t" l="l"/>
              <a:pathLst>
                <a:path h="2866390" w="341503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230118" y="0"/>
                  </a:lnTo>
                  <a:cubicBezTo>
                    <a:pt x="3332226" y="0"/>
                    <a:pt x="3415030" y="82804"/>
                    <a:pt x="3415030" y="184912"/>
                  </a:cubicBezTo>
                  <a:lnTo>
                    <a:pt x="3415030" y="2681478"/>
                  </a:lnTo>
                  <a:cubicBezTo>
                    <a:pt x="3415030" y="2783586"/>
                    <a:pt x="3332226" y="2866390"/>
                    <a:pt x="3230118" y="2866390"/>
                  </a:cubicBezTo>
                  <a:lnTo>
                    <a:pt x="184912" y="2866390"/>
                  </a:lnTo>
                  <a:cubicBezTo>
                    <a:pt x="82804" y="2866390"/>
                    <a:pt x="0" y="2783586"/>
                    <a:pt x="0" y="2681478"/>
                  </a:cubicBezTo>
                  <a:close/>
                </a:path>
              </a:pathLst>
            </a:custGeom>
            <a:solidFill>
              <a:srgbClr val="F7F9FC"/>
            </a:solidFill>
            <a:ln w="23812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174529" y="3353562"/>
            <a:ext cx="754380" cy="754380"/>
            <a:chOff x="0" y="0"/>
            <a:chExt cx="100584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272598" y="3451631"/>
            <a:ext cx="558241" cy="558241"/>
            <a:chOff x="0" y="0"/>
            <a:chExt cx="744322" cy="744322"/>
          </a:xfrm>
        </p:grpSpPr>
        <p:sp>
          <p:nvSpPr>
            <p:cNvPr name="Freeform 49" id="49" descr="icons/cpu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392717" y="4224528"/>
            <a:ext cx="2318004" cy="411480"/>
            <a:chOff x="0" y="0"/>
            <a:chExt cx="3090672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90672" cy="548640"/>
            </a:xfrm>
            <a:custGeom>
              <a:avLst/>
              <a:gdLst/>
              <a:ahLst/>
              <a:cxnLst/>
              <a:rect r="r" b="b" t="t" l="l"/>
              <a:pathLst>
                <a:path h="548640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65" r="0" b="-5976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09067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Train + evaluate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820449" y="3833622"/>
            <a:ext cx="282550" cy="768096"/>
            <a:chOff x="0" y="0"/>
            <a:chExt cx="376733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67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6732">
                  <a:moveTo>
                    <a:pt x="0" y="0"/>
                  </a:moveTo>
                  <a:lnTo>
                    <a:pt x="376732" y="0"/>
                  </a:lnTo>
                  <a:lnTo>
                    <a:pt x="3767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787" t="0" r="-29878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376733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091092" y="3142774"/>
            <a:ext cx="2561272" cy="2149792"/>
            <a:chOff x="0" y="0"/>
            <a:chExt cx="3415030" cy="286639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15030" cy="2866390"/>
            </a:xfrm>
            <a:custGeom>
              <a:avLst/>
              <a:gdLst/>
              <a:ahLst/>
              <a:cxnLst/>
              <a:rect r="r" b="b" t="t" l="l"/>
              <a:pathLst>
                <a:path h="2866390" w="341503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230118" y="0"/>
                  </a:lnTo>
                  <a:cubicBezTo>
                    <a:pt x="3332226" y="0"/>
                    <a:pt x="3415030" y="82804"/>
                    <a:pt x="3415030" y="184912"/>
                  </a:cubicBezTo>
                  <a:lnTo>
                    <a:pt x="3415030" y="2681478"/>
                  </a:lnTo>
                  <a:cubicBezTo>
                    <a:pt x="3415030" y="2783586"/>
                    <a:pt x="3332226" y="2866390"/>
                    <a:pt x="3230118" y="2866390"/>
                  </a:cubicBezTo>
                  <a:lnTo>
                    <a:pt x="184912" y="2866390"/>
                  </a:lnTo>
                  <a:cubicBezTo>
                    <a:pt x="82804" y="2866390"/>
                    <a:pt x="0" y="2783586"/>
                    <a:pt x="0" y="2681478"/>
                  </a:cubicBezTo>
                  <a:close/>
                </a:path>
              </a:pathLst>
            </a:custGeom>
            <a:solidFill>
              <a:srgbClr val="F7F9FC"/>
            </a:solidFill>
            <a:ln w="23812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994538" y="3353562"/>
            <a:ext cx="754380" cy="754380"/>
            <a:chOff x="0" y="0"/>
            <a:chExt cx="1005840" cy="1005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092608" y="3451631"/>
            <a:ext cx="558241" cy="558241"/>
            <a:chOff x="0" y="0"/>
            <a:chExt cx="744322" cy="744322"/>
          </a:xfrm>
        </p:grpSpPr>
        <p:sp>
          <p:nvSpPr>
            <p:cNvPr name="Freeform 61" id="61" descr="icons/server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3" b="3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212726" y="4224528"/>
            <a:ext cx="2318004" cy="411480"/>
            <a:chOff x="0" y="0"/>
            <a:chExt cx="3090672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90672" cy="548640"/>
            </a:xfrm>
            <a:custGeom>
              <a:avLst/>
              <a:gdLst/>
              <a:ahLst/>
              <a:cxnLst/>
              <a:rect r="r" b="b" t="t" l="l"/>
              <a:pathLst>
                <a:path h="548640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65" r="0" b="-5976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309067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Artifacts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640458" y="3833622"/>
            <a:ext cx="282550" cy="768096"/>
            <a:chOff x="0" y="0"/>
            <a:chExt cx="376733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767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6732">
                  <a:moveTo>
                    <a:pt x="0" y="0"/>
                  </a:moveTo>
                  <a:lnTo>
                    <a:pt x="376732" y="0"/>
                  </a:lnTo>
                  <a:lnTo>
                    <a:pt x="3767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787" t="0" r="-298787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376733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911102" y="3142774"/>
            <a:ext cx="2561272" cy="2149792"/>
            <a:chOff x="0" y="0"/>
            <a:chExt cx="3415030" cy="286639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15030" cy="2866390"/>
            </a:xfrm>
            <a:custGeom>
              <a:avLst/>
              <a:gdLst/>
              <a:ahLst/>
              <a:cxnLst/>
              <a:rect r="r" b="b" t="t" l="l"/>
              <a:pathLst>
                <a:path h="2866390" w="341503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230118" y="0"/>
                  </a:lnTo>
                  <a:cubicBezTo>
                    <a:pt x="3332226" y="0"/>
                    <a:pt x="3415030" y="82804"/>
                    <a:pt x="3415030" y="184912"/>
                  </a:cubicBezTo>
                  <a:lnTo>
                    <a:pt x="3415030" y="2681478"/>
                  </a:lnTo>
                  <a:cubicBezTo>
                    <a:pt x="3415030" y="2783586"/>
                    <a:pt x="3332226" y="2866390"/>
                    <a:pt x="3230118" y="2866390"/>
                  </a:cubicBezTo>
                  <a:lnTo>
                    <a:pt x="184912" y="2866390"/>
                  </a:lnTo>
                  <a:cubicBezTo>
                    <a:pt x="82804" y="2866390"/>
                    <a:pt x="0" y="2783586"/>
                    <a:pt x="0" y="2681478"/>
                  </a:cubicBezTo>
                  <a:close/>
                </a:path>
              </a:pathLst>
            </a:custGeom>
            <a:solidFill>
              <a:srgbClr val="FDF1EA"/>
            </a:solidFill>
            <a:ln w="23812" cap="sq">
              <a:solidFill>
                <a:srgbClr val="C24914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5814548" y="3353562"/>
            <a:ext cx="754380" cy="754380"/>
            <a:chOff x="0" y="0"/>
            <a:chExt cx="1005840" cy="1005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BE4D6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5912617" y="3451631"/>
            <a:ext cx="558241" cy="558241"/>
            <a:chOff x="0" y="0"/>
            <a:chExt cx="744322" cy="744322"/>
          </a:xfrm>
        </p:grpSpPr>
        <p:sp>
          <p:nvSpPr>
            <p:cNvPr name="Freeform 73" id="73" descr="icons/activity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3" b="3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5032736" y="4224528"/>
            <a:ext cx="2318004" cy="411480"/>
            <a:chOff x="0" y="0"/>
            <a:chExt cx="3090672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090672" cy="548640"/>
            </a:xfrm>
            <a:custGeom>
              <a:avLst/>
              <a:gdLst/>
              <a:ahLst/>
              <a:cxnLst/>
              <a:rect r="r" b="b" t="t" l="l"/>
              <a:pathLst>
                <a:path h="548640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65" r="0" b="-5976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309067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Monitor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22960" y="5966460"/>
            <a:ext cx="16637508" cy="3154680"/>
            <a:chOff x="0" y="0"/>
            <a:chExt cx="22183344" cy="42062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183344" cy="4206240"/>
            </a:xfrm>
            <a:custGeom>
              <a:avLst/>
              <a:gdLst/>
              <a:ahLst/>
              <a:cxnLst/>
              <a:rect r="r" b="b" t="t" l="l"/>
              <a:pathLst>
                <a:path h="4206240" w="2218334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000463" y="0"/>
                  </a:lnTo>
                  <a:cubicBezTo>
                    <a:pt x="22101428" y="0"/>
                    <a:pt x="22183344" y="81915"/>
                    <a:pt x="22183344" y="182880"/>
                  </a:cubicBezTo>
                  <a:lnTo>
                    <a:pt x="22183344" y="4023360"/>
                  </a:lnTo>
                  <a:cubicBezTo>
                    <a:pt x="22183344" y="4124325"/>
                    <a:pt x="22101428" y="4206240"/>
                    <a:pt x="22000463" y="4206240"/>
                  </a:cubicBezTo>
                  <a:lnTo>
                    <a:pt x="182880" y="4206240"/>
                  </a:lnTo>
                  <a:cubicBezTo>
                    <a:pt x="81915" y="4206240"/>
                    <a:pt x="0" y="4124325"/>
                    <a:pt x="0" y="40233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385935" y="6299835"/>
            <a:ext cx="19050" cy="2625090"/>
            <a:chOff x="0" y="0"/>
            <a:chExt cx="25400" cy="35001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5400" cy="3500120"/>
            </a:xfrm>
            <a:custGeom>
              <a:avLst/>
              <a:gdLst/>
              <a:ahLst/>
              <a:cxnLst/>
              <a:rect r="r" b="b" t="t" l="l"/>
              <a:pathLst>
                <a:path h="3500120" w="25400">
                  <a:moveTo>
                    <a:pt x="0" y="0"/>
                  </a:moveTo>
                  <a:lnTo>
                    <a:pt x="25400" y="35001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7630232" t="0" r="-17630232" b="0"/>
              </a:stretch>
            </a:blipFill>
            <a:ln w="19050" cap="sq">
              <a:solidFill>
                <a:srgbClr val="3B4A85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Chuene Mosomane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7841191" y="956741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2628900" y="6996141"/>
            <a:ext cx="10972800" cy="1651797"/>
            <a:chOff x="0" y="0"/>
            <a:chExt cx="14630400" cy="220239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4630400" cy="2202396"/>
            </a:xfrm>
            <a:custGeom>
              <a:avLst/>
              <a:gdLst/>
              <a:ahLst/>
              <a:cxnLst/>
              <a:rect r="r" b="b" t="t" l="l"/>
              <a:pathLst>
                <a:path h="220239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906" r="0" b="-4396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1463040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GitHub :  https://github.com/Chuene100/Loan-Propensity-Model</a:t>
              </a: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16477221" y="9710928"/>
            <a:ext cx="1120407" cy="613168"/>
          </a:xfrm>
          <a:custGeom>
            <a:avLst/>
            <a:gdLst/>
            <a:ahLst/>
            <a:cxnLst/>
            <a:rect r="r" b="b" t="t" l="l"/>
            <a:pathLst>
              <a:path h="613168" w="1120407">
                <a:moveTo>
                  <a:pt x="0" y="0"/>
                </a:moveTo>
                <a:lnTo>
                  <a:pt x="1120407" y="0"/>
                </a:lnTo>
                <a:lnTo>
                  <a:pt x="1120407" y="613168"/>
                </a:lnTo>
                <a:lnTo>
                  <a:pt x="0" y="613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172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 watch once this is live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116455"/>
            <a:ext cx="8111490" cy="2282190"/>
            <a:chOff x="0" y="0"/>
            <a:chExt cx="10815320" cy="3042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5320" cy="3042920"/>
            </a:xfrm>
            <a:custGeom>
              <a:avLst/>
              <a:gdLst/>
              <a:ahLst/>
              <a:cxnLst/>
              <a:rect r="r" b="b" t="t" l="l"/>
              <a:pathLst>
                <a:path h="3042920" w="1081532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10630916" y="0"/>
                  </a:lnTo>
                  <a:cubicBezTo>
                    <a:pt x="10732770" y="0"/>
                    <a:pt x="10815320" y="82550"/>
                    <a:pt x="10815320" y="184404"/>
                  </a:cubicBezTo>
                  <a:lnTo>
                    <a:pt x="10815320" y="2858516"/>
                  </a:lnTo>
                  <a:cubicBezTo>
                    <a:pt x="10815320" y="2960370"/>
                    <a:pt x="10732770" y="3042920"/>
                    <a:pt x="10630916" y="3042920"/>
                  </a:cubicBezTo>
                  <a:lnTo>
                    <a:pt x="184404" y="3042920"/>
                  </a:lnTo>
                  <a:cubicBezTo>
                    <a:pt x="82550" y="3042920"/>
                    <a:pt x="0" y="2960370"/>
                    <a:pt x="0" y="285851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40030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41425" y="2507285"/>
            <a:ext cx="608990" cy="608990"/>
            <a:chOff x="0" y="0"/>
            <a:chExt cx="811987" cy="811987"/>
          </a:xfrm>
        </p:grpSpPr>
        <p:sp>
          <p:nvSpPr>
            <p:cNvPr name="Freeform 13" id="13" descr="icons/activity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31720" y="2318004"/>
            <a:ext cx="6309360" cy="480060"/>
            <a:chOff x="0" y="0"/>
            <a:chExt cx="841248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4124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Prediction volume &amp; latency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423160" y="2828925"/>
            <a:ext cx="612648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Every /score call is counted and timed — catches a serving outage or a slow-down before a downstream team notices.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91675" y="2116455"/>
            <a:ext cx="8111490" cy="2282190"/>
            <a:chOff x="0" y="0"/>
            <a:chExt cx="10815320" cy="3042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15320" cy="3042920"/>
            </a:xfrm>
            <a:custGeom>
              <a:avLst/>
              <a:gdLst/>
              <a:ahLst/>
              <a:cxnLst/>
              <a:rect r="r" b="b" t="t" l="l"/>
              <a:pathLst>
                <a:path h="3042920" w="1081532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10630916" y="0"/>
                  </a:lnTo>
                  <a:cubicBezTo>
                    <a:pt x="10732770" y="0"/>
                    <a:pt x="10815320" y="82550"/>
                    <a:pt x="10815320" y="184404"/>
                  </a:cubicBezTo>
                  <a:lnTo>
                    <a:pt x="10815320" y="2858516"/>
                  </a:lnTo>
                  <a:cubicBezTo>
                    <a:pt x="10815320" y="2960370"/>
                    <a:pt x="10732770" y="3042920"/>
                    <a:pt x="10630916" y="3042920"/>
                  </a:cubicBezTo>
                  <a:lnTo>
                    <a:pt x="184404" y="3042920"/>
                  </a:lnTo>
                  <a:cubicBezTo>
                    <a:pt x="82550" y="3042920"/>
                    <a:pt x="0" y="2960370"/>
                    <a:pt x="0" y="285851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012680" y="2400300"/>
            <a:ext cx="822960" cy="822960"/>
            <a:chOff x="0" y="0"/>
            <a:chExt cx="10972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119665" y="2507285"/>
            <a:ext cx="608990" cy="608990"/>
            <a:chOff x="0" y="0"/>
            <a:chExt cx="811987" cy="811987"/>
          </a:xfrm>
        </p:grpSpPr>
        <p:sp>
          <p:nvSpPr>
            <p:cNvPr name="Freeform 23" id="23" descr="icons/barChart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6" b="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109960" y="2318004"/>
            <a:ext cx="6309360" cy="480060"/>
            <a:chOff x="0" y="0"/>
            <a:chExt cx="841248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84124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Score distribution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201400" y="2828925"/>
            <a:ext cx="612648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A histogram of propensity scores over time — a sudden shift (everyone scoring high, or low) is often the first sign something upstream changed.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13435" y="4653915"/>
            <a:ext cx="8111490" cy="2282190"/>
            <a:chOff x="0" y="0"/>
            <a:chExt cx="10815320" cy="3042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15320" cy="3042920"/>
            </a:xfrm>
            <a:custGeom>
              <a:avLst/>
              <a:gdLst/>
              <a:ahLst/>
              <a:cxnLst/>
              <a:rect r="r" b="b" t="t" l="l"/>
              <a:pathLst>
                <a:path h="3042920" w="1081532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10630916" y="0"/>
                  </a:lnTo>
                  <a:cubicBezTo>
                    <a:pt x="10732770" y="0"/>
                    <a:pt x="10815320" y="82550"/>
                    <a:pt x="10815320" y="184404"/>
                  </a:cubicBezTo>
                  <a:lnTo>
                    <a:pt x="10815320" y="2858516"/>
                  </a:lnTo>
                  <a:cubicBezTo>
                    <a:pt x="10815320" y="2960370"/>
                    <a:pt x="10732770" y="3042920"/>
                    <a:pt x="10630916" y="3042920"/>
                  </a:cubicBezTo>
                  <a:lnTo>
                    <a:pt x="184404" y="3042920"/>
                  </a:lnTo>
                  <a:cubicBezTo>
                    <a:pt x="82550" y="3042920"/>
                    <a:pt x="0" y="2960370"/>
                    <a:pt x="0" y="285851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" y="4937760"/>
            <a:ext cx="822960" cy="822960"/>
            <a:chOff x="0" y="0"/>
            <a:chExt cx="109728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41425" y="5044745"/>
            <a:ext cx="608990" cy="608990"/>
            <a:chOff x="0" y="0"/>
            <a:chExt cx="811987" cy="811987"/>
          </a:xfrm>
        </p:grpSpPr>
        <p:sp>
          <p:nvSpPr>
            <p:cNvPr name="Freeform 33" id="33" descr="icons/trendingUp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6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331720" y="4855464"/>
            <a:ext cx="6309360" cy="480060"/>
            <a:chOff x="0" y="0"/>
            <a:chExt cx="841248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84124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Feature drift (PSI)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423160" y="5366385"/>
            <a:ext cx="612648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Population Stability Index compares today's feature distributions to training — &lt;0.10 stable, 0.10–0.25 monitor, &gt;0.25 consider retraining.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591675" y="4653915"/>
            <a:ext cx="8111490" cy="2282190"/>
            <a:chOff x="0" y="0"/>
            <a:chExt cx="10815320" cy="3042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15320" cy="3042920"/>
            </a:xfrm>
            <a:custGeom>
              <a:avLst/>
              <a:gdLst/>
              <a:ahLst/>
              <a:cxnLst/>
              <a:rect r="r" b="b" t="t" l="l"/>
              <a:pathLst>
                <a:path h="3042920" w="1081532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10630916" y="0"/>
                  </a:lnTo>
                  <a:cubicBezTo>
                    <a:pt x="10732770" y="0"/>
                    <a:pt x="10815320" y="82550"/>
                    <a:pt x="10815320" y="184404"/>
                  </a:cubicBezTo>
                  <a:lnTo>
                    <a:pt x="10815320" y="2858516"/>
                  </a:lnTo>
                  <a:cubicBezTo>
                    <a:pt x="10815320" y="2960370"/>
                    <a:pt x="10732770" y="3042920"/>
                    <a:pt x="10630916" y="3042920"/>
                  </a:cubicBezTo>
                  <a:lnTo>
                    <a:pt x="184404" y="3042920"/>
                  </a:lnTo>
                  <a:cubicBezTo>
                    <a:pt x="82550" y="3042920"/>
                    <a:pt x="0" y="2960370"/>
                    <a:pt x="0" y="285851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012680" y="4937760"/>
            <a:ext cx="822960" cy="822960"/>
            <a:chOff x="0" y="0"/>
            <a:chExt cx="10972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119665" y="5044745"/>
            <a:ext cx="608990" cy="608990"/>
            <a:chOff x="0" y="0"/>
            <a:chExt cx="811987" cy="811987"/>
          </a:xfrm>
        </p:grpSpPr>
        <p:sp>
          <p:nvSpPr>
            <p:cNvPr name="Freeform 43" id="43" descr="icons/scale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109960" y="4855464"/>
            <a:ext cx="6309360" cy="480060"/>
            <a:chOff x="0" y="0"/>
            <a:chExt cx="841248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84124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Fairness over time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201400" y="5366385"/>
            <a:ext cx="612648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The disparate-impact check from slide 10 isn't a one-off — re-run on a schedule so a shift in approval-rate gaps gets caught, not just checked once at launch.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22960" y="7338060"/>
            <a:ext cx="16637508" cy="1851660"/>
            <a:chOff x="0" y="0"/>
            <a:chExt cx="22183344" cy="24688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183344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8334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000463" y="0"/>
                  </a:lnTo>
                  <a:cubicBezTo>
                    <a:pt x="22101428" y="0"/>
                    <a:pt x="22183344" y="81915"/>
                    <a:pt x="22183344" y="182880"/>
                  </a:cubicBezTo>
                  <a:lnTo>
                    <a:pt x="22183344" y="2286000"/>
                  </a:lnTo>
                  <a:cubicBezTo>
                    <a:pt x="22183344" y="2386965"/>
                    <a:pt x="22101428" y="2468880"/>
                    <a:pt x="22000463" y="2468880"/>
                  </a:cubicBezTo>
                  <a:lnTo>
                    <a:pt x="182880" y="2468880"/>
                  </a:lnTo>
                  <a:cubicBezTo>
                    <a:pt x="81915" y="2468880"/>
                    <a:pt x="0" y="2386965"/>
                    <a:pt x="0" y="22860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68730" y="7811262"/>
            <a:ext cx="891540" cy="891540"/>
            <a:chOff x="0" y="0"/>
            <a:chExt cx="1188720" cy="1188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32458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628900" y="6996141"/>
            <a:ext cx="10972800" cy="1651797"/>
            <a:chOff x="0" y="0"/>
            <a:chExt cx="14630400" cy="22023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630400" cy="2202396"/>
            </a:xfrm>
            <a:custGeom>
              <a:avLst/>
              <a:gdLst/>
              <a:ahLst/>
              <a:cxnLst/>
              <a:rect r="r" b="b" t="t" l="l"/>
              <a:pathLst>
                <a:path h="220239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906" r="0" b="-4396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463040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Prometheus + Grafana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2628900" y="8209788"/>
            <a:ext cx="1408176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The serving app exposes a /metrics endpoint. Grafana connets via a provisioned Prometheus data source, with a starter dashboard covering request volume, latency, error rate, and score distribution.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Chuene Mosomane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7841191" y="961738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23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6477221" y="9815824"/>
            <a:ext cx="1120407" cy="613168"/>
          </a:xfrm>
          <a:custGeom>
            <a:avLst/>
            <a:gdLst/>
            <a:ahLst/>
            <a:cxnLst/>
            <a:rect r="r" b="b" t="t" l="l"/>
            <a:pathLst>
              <a:path h="613168" w="1120407">
                <a:moveTo>
                  <a:pt x="0" y="0"/>
                </a:moveTo>
                <a:lnTo>
                  <a:pt x="1120407" y="0"/>
                </a:lnTo>
                <a:lnTo>
                  <a:pt x="1120407" y="613168"/>
                </a:lnTo>
                <a:lnTo>
                  <a:pt x="0" y="6131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WE GO FROM HERE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172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Recommendations &amp; next steps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8672" y="2530602"/>
            <a:ext cx="754380" cy="754380"/>
            <a:chOff x="0" y="0"/>
            <a:chExt cx="1005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8672" y="2530602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51660" y="2534088"/>
            <a:ext cx="5897880" cy="822960"/>
            <a:chOff x="0" y="0"/>
            <a:chExt cx="786384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63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7863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Run on the full historical dataset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5862" y="2866072"/>
            <a:ext cx="28575" cy="645795"/>
            <a:chOff x="0" y="0"/>
            <a:chExt cx="38100" cy="8610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" cy="861060"/>
            </a:xfrm>
            <a:custGeom>
              <a:avLst/>
              <a:gdLst/>
              <a:ahLst/>
              <a:cxnLst/>
              <a:rect r="r" b="b" t="t" l="l"/>
              <a:pathLst>
                <a:path h="861060" w="38100">
                  <a:moveTo>
                    <a:pt x="0" y="0"/>
                  </a:moveTo>
                  <a:lnTo>
                    <a:pt x="38100" y="86106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849660" t="0" r="-2849660" b="0"/>
              </a:stretch>
            </a:blipFill>
            <a:ln w="28575" cap="sq">
              <a:solidFill>
                <a:srgbClr val="D7DEE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08672" y="4200525"/>
            <a:ext cx="754380" cy="754380"/>
            <a:chOff x="0" y="0"/>
            <a:chExt cx="100584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08672" y="4183380"/>
            <a:ext cx="754380" cy="754380"/>
            <a:chOff x="0" y="0"/>
            <a:chExt cx="100584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51660" y="4114800"/>
            <a:ext cx="5897880" cy="822960"/>
            <a:chOff x="0" y="0"/>
            <a:chExt cx="786384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63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863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Pilot on a small, monitored segment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5862" y="4237672"/>
            <a:ext cx="28575" cy="645795"/>
            <a:chOff x="0" y="0"/>
            <a:chExt cx="38100" cy="8610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100" cy="861060"/>
            </a:xfrm>
            <a:custGeom>
              <a:avLst/>
              <a:gdLst/>
              <a:ahLst/>
              <a:cxnLst/>
              <a:rect r="r" b="b" t="t" l="l"/>
              <a:pathLst>
                <a:path h="861060" w="38100">
                  <a:moveTo>
                    <a:pt x="0" y="0"/>
                  </a:moveTo>
                  <a:lnTo>
                    <a:pt x="38100" y="86106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849660" t="0" r="-2849660" b="0"/>
              </a:stretch>
            </a:blipFill>
            <a:ln w="28575" cap="sq">
              <a:solidFill>
                <a:srgbClr val="D7DEE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08672" y="5554980"/>
            <a:ext cx="754380" cy="754380"/>
            <a:chOff x="0" y="0"/>
            <a:chExt cx="100584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37248" y="5623560"/>
            <a:ext cx="754380" cy="754380"/>
            <a:chOff x="0" y="0"/>
            <a:chExt cx="100584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51660" y="5232769"/>
            <a:ext cx="7518862" cy="1535962"/>
            <a:chOff x="0" y="0"/>
            <a:chExt cx="10025149" cy="204794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25149" cy="2047949"/>
            </a:xfrm>
            <a:custGeom>
              <a:avLst/>
              <a:gdLst/>
              <a:ahLst/>
              <a:cxnLst/>
              <a:rect r="r" b="b" t="t" l="l"/>
              <a:pathLst>
                <a:path h="2047949" w="10025149">
                  <a:moveTo>
                    <a:pt x="0" y="0"/>
                  </a:moveTo>
                  <a:lnTo>
                    <a:pt x="10025149" y="0"/>
                  </a:lnTo>
                  <a:lnTo>
                    <a:pt x="10025149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" r="21558" b="-160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0025149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Decide the serving path: batch scoring vs real-time endpoint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5862" y="5609272"/>
            <a:ext cx="28575" cy="645795"/>
            <a:chOff x="0" y="0"/>
            <a:chExt cx="38100" cy="8610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100" cy="861060"/>
            </a:xfrm>
            <a:custGeom>
              <a:avLst/>
              <a:gdLst/>
              <a:ahLst/>
              <a:cxnLst/>
              <a:rect r="r" b="b" t="t" l="l"/>
              <a:pathLst>
                <a:path h="861060" w="38100">
                  <a:moveTo>
                    <a:pt x="0" y="0"/>
                  </a:moveTo>
                  <a:lnTo>
                    <a:pt x="38100" y="86106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849660" t="0" r="-2849660" b="0"/>
              </a:stretch>
            </a:blipFill>
            <a:ln w="28575" cap="sq">
              <a:solidFill>
                <a:srgbClr val="D7DEE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08672" y="7303770"/>
            <a:ext cx="754380" cy="754380"/>
            <a:chOff x="0" y="0"/>
            <a:chExt cx="100584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37248" y="7303770"/>
            <a:ext cx="754380" cy="754380"/>
            <a:chOff x="0" y="0"/>
            <a:chExt cx="100584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851660" y="7235190"/>
            <a:ext cx="5897880" cy="822960"/>
            <a:chOff x="0" y="0"/>
            <a:chExt cx="786384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863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7863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Schedule fairness &amp; drift re-checks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5862" y="6980872"/>
            <a:ext cx="28575" cy="645795"/>
            <a:chOff x="0" y="0"/>
            <a:chExt cx="38100" cy="8610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100" cy="861060"/>
            </a:xfrm>
            <a:custGeom>
              <a:avLst/>
              <a:gdLst/>
              <a:ahLst/>
              <a:cxnLst/>
              <a:rect r="r" b="b" t="t" l="l"/>
              <a:pathLst>
                <a:path h="861060" w="38100">
                  <a:moveTo>
                    <a:pt x="0" y="0"/>
                  </a:moveTo>
                  <a:lnTo>
                    <a:pt x="38100" y="86106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849660" t="0" r="-2849660" b="0"/>
              </a:stretch>
            </a:blipFill>
            <a:ln w="28575" cap="sq">
              <a:solidFill>
                <a:srgbClr val="D7DEEA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Chuene Mosomane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7758064" y="96682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6477221" y="9710928"/>
            <a:ext cx="1120407" cy="613168"/>
          </a:xfrm>
          <a:custGeom>
            <a:avLst/>
            <a:gdLst/>
            <a:ahLst/>
            <a:cxnLst/>
            <a:rect r="r" b="b" t="t" l="l"/>
            <a:pathLst>
              <a:path h="613168" w="1120407">
                <a:moveTo>
                  <a:pt x="0" y="0"/>
                </a:moveTo>
                <a:lnTo>
                  <a:pt x="1120407" y="0"/>
                </a:lnTo>
                <a:lnTo>
                  <a:pt x="1120407" y="613168"/>
                </a:lnTo>
                <a:lnTo>
                  <a:pt x="0" y="613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6160" y="-3566160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26387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90204" y="2777490"/>
            <a:ext cx="1303020" cy="1303020"/>
            <a:chOff x="0" y="0"/>
            <a:chExt cx="1737360" cy="1737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32458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59597" y="2946883"/>
            <a:ext cx="964235" cy="964235"/>
            <a:chOff x="0" y="0"/>
            <a:chExt cx="1285646" cy="1285646"/>
          </a:xfrm>
        </p:grpSpPr>
        <p:sp>
          <p:nvSpPr>
            <p:cNvPr name="Freeform 7" id="7" descr="icons/white_target.png"/>
            <p:cNvSpPr/>
            <p:nvPr/>
          </p:nvSpPr>
          <p:spPr>
            <a:xfrm flipH="false" flipV="false" rot="0">
              <a:off x="0" y="0"/>
              <a:ext cx="1285621" cy="1285621"/>
            </a:xfrm>
            <a:custGeom>
              <a:avLst/>
              <a:gdLst/>
              <a:ahLst/>
              <a:cxnLst/>
              <a:rect r="r" b="b" t="t" l="l"/>
              <a:pathLst>
                <a:path h="1285621" w="1285621">
                  <a:moveTo>
                    <a:pt x="0" y="0"/>
                  </a:moveTo>
                  <a:lnTo>
                    <a:pt x="1285621" y="0"/>
                  </a:lnTo>
                  <a:lnTo>
                    <a:pt x="1285621" y="1285621"/>
                  </a:lnTo>
                  <a:lnTo>
                    <a:pt x="0" y="128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4594860"/>
            <a:ext cx="18283428" cy="1234440"/>
            <a:chOff x="0" y="0"/>
            <a:chExt cx="24377904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1645920"/>
            </a:xfrm>
            <a:custGeom>
              <a:avLst/>
              <a:gdLst/>
              <a:ahLst/>
              <a:cxnLst/>
              <a:rect r="r" b="b" t="t" l="l"/>
              <a:pathLst>
                <a:path h="16459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95" r="0" b="-2385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77904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Discussion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5692140"/>
            <a:ext cx="18283428" cy="685800"/>
            <a:chOff x="0" y="0"/>
            <a:chExt cx="24377904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7790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471" r="0" b="-46947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4377904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Questions!!!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32866" y="6637972"/>
            <a:ext cx="4417695" cy="28575"/>
            <a:chOff x="0" y="0"/>
            <a:chExt cx="589026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90260" cy="38100"/>
            </a:xfrm>
            <a:custGeom>
              <a:avLst/>
              <a:gdLst/>
              <a:ahLst/>
              <a:cxnLst/>
              <a:rect r="r" b="b" t="t" l="l"/>
              <a:pathLst>
                <a:path h="38100" w="5890260">
                  <a:moveTo>
                    <a:pt x="0" y="0"/>
                  </a:moveTo>
                  <a:lnTo>
                    <a:pt x="5890260" y="381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2962386" r="0" b="-2962386"/>
              </a:stretch>
            </a:blipFill>
            <a:ln w="28575" cap="sq">
              <a:solidFill>
                <a:srgbClr val="4A5A9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0" y="9189720"/>
            <a:ext cx="18283428" cy="480060"/>
            <a:chOff x="0" y="0"/>
            <a:chExt cx="24377904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7790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2101" r="0" b="-6921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4377904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8FA3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•  Chuene Mosomane  •  Path Integral (Pty) Ltd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633373" y="947134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DAHRJWyq978</dc:identifier>
  <dcterms:modified xsi:type="dcterms:W3CDTF">2011-08-01T06:04:30Z</dcterms:modified>
  <cp:revision>1</cp:revision>
  <dc:title>loan_propensity_manager_review.pptx</dc:title>
</cp:coreProperties>
</file>